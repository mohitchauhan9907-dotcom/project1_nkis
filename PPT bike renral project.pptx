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Ex1.xml" ContentType="application/vnd.ms-office.chartex+xml"/>
  <Override PartName="/ppt/charts/style9.xml" ContentType="application/vnd.ms-office.chartstyle+xml"/>
  <Override PartName="/ppt/charts/colors9.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72" r:id="rId2"/>
    <p:sldId id="273" r:id="rId3"/>
    <p:sldId id="260" r:id="rId4"/>
    <p:sldId id="261" r:id="rId5"/>
    <p:sldId id="262" r:id="rId6"/>
    <p:sldId id="263" r:id="rId7"/>
    <p:sldId id="264" r:id="rId8"/>
    <p:sldId id="265" r:id="rId9"/>
    <p:sldId id="266" r:id="rId10"/>
    <p:sldId id="267" r:id="rId11"/>
    <p:sldId id="268" r:id="rId12"/>
    <p:sldId id="269" r:id="rId13"/>
    <p:sldId id="275" r:id="rId14"/>
    <p:sldId id="271"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969" autoAdjust="0"/>
  </p:normalViewPr>
  <p:slideViewPr>
    <p:cSldViewPr snapToGrid="0">
      <p:cViewPr varScale="1">
        <p:scale>
          <a:sx n="64" d="100"/>
          <a:sy n="64" d="100"/>
        </p:scale>
        <p:origin x="95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oleObject" Target="file:///C:\Users\mohit\Desktop\project\project\project.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mohit\Desktop\project\project\ppt.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mohit\Desktop\project\project\project.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mohit\Desktop\project\project\project.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mohit\Desktop\project\project\project.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mohit\Desktop\project\project\project.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mohit\Desktop\project\project\project.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mohit\Desktop\project\project\project.xlsx" TargetMode="External"/><Relationship Id="rId2" Type="http://schemas.microsoft.com/office/2011/relationships/chartColorStyle" Target="colors8.xml"/><Relationship Id="rId1" Type="http://schemas.microsoft.com/office/2011/relationships/chartStyle" Target="style8.xml"/></Relationships>
</file>

<file path=ppt/charts/_rels/chartEx1.xml.rels><?xml version="1.0" encoding="UTF-8" standalone="yes"?>
<Relationships xmlns="http://schemas.openxmlformats.org/package/2006/relationships"><Relationship Id="rId3" Type="http://schemas.microsoft.com/office/2011/relationships/chartColorStyle" Target="colors9.xml"/><Relationship Id="rId2" Type="http://schemas.microsoft.com/office/2011/relationships/chartStyle" Target="style9.xml"/><Relationship Id="rId1" Type="http://schemas.openxmlformats.org/officeDocument/2006/relationships/oleObject" Target="file:///C:\Users\mohit\Desktop\project\project\project.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[project.xlsx]weektype!PivotTable1</c:name>
    <c:fmtId val="26"/>
  </c:pivotSource>
  <c:chart>
    <c:autoTitleDeleted val="1"/>
    <c:pivotFmts>
      <c:pivotFmt>
        <c:idx val="0"/>
        <c:spPr>
          <a:gradFill flip="none" rotWithShape="1">
            <a:gsLst>
              <a:gs pos="100000">
                <a:schemeClr val="accent1">
                  <a:alpha val="0"/>
                </a:schemeClr>
              </a:gs>
              <a:gs pos="50000">
                <a:schemeClr val="accent1"/>
              </a:gs>
            </a:gsLst>
            <a:lin ang="5400000" scaled="0"/>
          </a:gra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gradFill flip="none" rotWithShape="1">
            <a:gsLst>
              <a:gs pos="100000">
                <a:schemeClr val="accent1">
                  <a:alpha val="0"/>
                </a:schemeClr>
              </a:gs>
              <a:gs pos="50000">
                <a:schemeClr val="accent1"/>
              </a:gs>
            </a:gsLst>
            <a:lin ang="5400000" scaled="0"/>
          </a:gra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gradFill flip="none" rotWithShape="1">
            <a:gsLst>
              <a:gs pos="100000">
                <a:schemeClr val="accent1">
                  <a:alpha val="0"/>
                </a:schemeClr>
              </a:gs>
              <a:gs pos="50000">
                <a:schemeClr val="accent1"/>
              </a:gs>
            </a:gsLst>
            <a:lin ang="5400000" scaled="0"/>
          </a:gra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
        <c:spPr>
          <a:gradFill flip="none" rotWithShape="1">
            <a:gsLst>
              <a:gs pos="100000">
                <a:schemeClr val="accent1">
                  <a:alpha val="0"/>
                </a:schemeClr>
              </a:gs>
              <a:gs pos="50000">
                <a:schemeClr val="accent1"/>
              </a:gs>
            </a:gsLst>
            <a:lin ang="5400000" scaled="0"/>
          </a:gra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
        <c:spPr>
          <a:gradFill flip="none" rotWithShape="1">
            <a:gsLst>
              <a:gs pos="100000">
                <a:schemeClr val="accent1">
                  <a:alpha val="0"/>
                </a:schemeClr>
              </a:gs>
              <a:gs pos="50000">
                <a:schemeClr val="accent1"/>
              </a:gs>
            </a:gsLst>
            <a:lin ang="5400000" scaled="0"/>
          </a:gra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5"/>
        <c:spPr>
          <a:gradFill flip="none" rotWithShape="1">
            <a:gsLst>
              <a:gs pos="100000">
                <a:schemeClr val="accent1">
                  <a:alpha val="0"/>
                </a:schemeClr>
              </a:gs>
              <a:gs pos="50000">
                <a:schemeClr val="accent1"/>
              </a:gs>
            </a:gsLst>
            <a:lin ang="5400000" scaled="0"/>
          </a:gra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0.12380543118384711"/>
          <c:y val="3.1760814051107325E-2"/>
          <c:w val="0.65572350024874348"/>
          <c:h val="0.89237599772976151"/>
        </c:manualLayout>
      </c:layout>
      <c:bar3DChart>
        <c:barDir val="col"/>
        <c:grouping val="clustered"/>
        <c:varyColors val="0"/>
        <c:ser>
          <c:idx val="0"/>
          <c:order val="0"/>
          <c:tx>
            <c:strRef>
              <c:f>weektype!$C$9</c:f>
              <c:strCache>
                <c:ptCount val="1"/>
                <c:pt idx="0">
                  <c:v>Sum of casual</c:v>
                </c:pt>
              </c:strCache>
            </c:strRef>
          </c:tx>
          <c:spPr>
            <a:gradFill>
              <a:gsLst>
                <a:gs pos="100000">
                  <a:schemeClr val="accent1">
                    <a:alpha val="0"/>
                  </a:schemeClr>
                </a:gs>
                <a:gs pos="50000">
                  <a:schemeClr val="accent1"/>
                </a:gs>
              </a:gsLst>
              <a:lin ang="5400000" scaled="0"/>
            </a:gradFill>
            <a:ln>
              <a:noFill/>
            </a:ln>
            <a:effectLst/>
            <a:sp3d/>
          </c:spPr>
          <c:invertIfNegative val="0"/>
          <c:dLbls>
            <c:dLbl>
              <c:idx val="0"/>
              <c:layout>
                <c:manualLayout>
                  <c:x val="8.7145969498910684E-3"/>
                  <c:y val="-2.3448299545933836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6C22-46C8-A23B-5A0F01408E12}"/>
                </c:ext>
              </c:extLst>
            </c:dLbl>
            <c:dLbl>
              <c:idx val="1"/>
              <c:layout>
                <c:manualLayout>
                  <c:x val="1.3071895424836522E-2"/>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6C22-46C8-A23B-5A0F01408E12}"/>
                </c:ext>
              </c:extLst>
            </c:dLbl>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weektype!$B$10:$B$12</c:f>
              <c:strCache>
                <c:ptCount val="2"/>
                <c:pt idx="0">
                  <c:v>Weekday</c:v>
                </c:pt>
                <c:pt idx="1">
                  <c:v>Weekend</c:v>
                </c:pt>
              </c:strCache>
            </c:strRef>
          </c:cat>
          <c:val>
            <c:numRef>
              <c:f>weektype!$C$10:$C$12</c:f>
              <c:numCache>
                <c:formatCode>General</c:formatCode>
                <c:ptCount val="2"/>
                <c:pt idx="0">
                  <c:v>2219</c:v>
                </c:pt>
                <c:pt idx="1">
                  <c:v>2702</c:v>
                </c:pt>
              </c:numCache>
            </c:numRef>
          </c:val>
          <c:extLst>
            <c:ext xmlns:c16="http://schemas.microsoft.com/office/drawing/2014/chart" uri="{C3380CC4-5D6E-409C-BE32-E72D297353CC}">
              <c16:uniqueId val="{00000000-6C22-46C8-A23B-5A0F01408E12}"/>
            </c:ext>
          </c:extLst>
        </c:ser>
        <c:ser>
          <c:idx val="1"/>
          <c:order val="1"/>
          <c:tx>
            <c:strRef>
              <c:f>weektype!$D$9</c:f>
              <c:strCache>
                <c:ptCount val="1"/>
                <c:pt idx="0">
                  <c:v>Sum of reg</c:v>
                </c:pt>
              </c:strCache>
            </c:strRef>
          </c:tx>
          <c:spPr>
            <a:gradFill>
              <a:gsLst>
                <a:gs pos="100000">
                  <a:schemeClr val="accent2">
                    <a:alpha val="0"/>
                  </a:schemeClr>
                </a:gs>
                <a:gs pos="50000">
                  <a:schemeClr val="accent2"/>
                </a:gs>
              </a:gsLst>
              <a:lin ang="5400000" scaled="0"/>
            </a:gradFill>
            <a:ln>
              <a:noFill/>
            </a:ln>
            <a:effectLst/>
            <a:sp3d/>
          </c:spPr>
          <c:invertIfNegative val="0"/>
          <c:dLbls>
            <c:dLbl>
              <c:idx val="0"/>
              <c:layout>
                <c:manualLayout>
                  <c:x val="1.7429193899782137E-2"/>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6C22-46C8-A23B-5A0F01408E12}"/>
                </c:ext>
              </c:extLst>
            </c:dLbl>
            <c:dLbl>
              <c:idx val="1"/>
              <c:layout>
                <c:manualLayout>
                  <c:x val="1.7429193899782137E-2"/>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6C22-46C8-A23B-5A0F01408E12}"/>
                </c:ext>
              </c:extLst>
            </c:dLbl>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weektype!$B$10:$B$12</c:f>
              <c:strCache>
                <c:ptCount val="2"/>
                <c:pt idx="0">
                  <c:v>Weekday</c:v>
                </c:pt>
                <c:pt idx="1">
                  <c:v>Weekend</c:v>
                </c:pt>
              </c:strCache>
            </c:strRef>
          </c:cat>
          <c:val>
            <c:numRef>
              <c:f>weektype!$D$10:$D$12</c:f>
              <c:numCache>
                <c:formatCode>General</c:formatCode>
                <c:ptCount val="2"/>
                <c:pt idx="0">
                  <c:v>40216</c:v>
                </c:pt>
                <c:pt idx="1">
                  <c:v>13167</c:v>
                </c:pt>
              </c:numCache>
            </c:numRef>
          </c:val>
          <c:extLst>
            <c:ext xmlns:c16="http://schemas.microsoft.com/office/drawing/2014/chart" uri="{C3380CC4-5D6E-409C-BE32-E72D297353CC}">
              <c16:uniqueId val="{00000001-6C22-46C8-A23B-5A0F01408E12}"/>
            </c:ext>
          </c:extLst>
        </c:ser>
        <c:dLbls>
          <c:showLegendKey val="0"/>
          <c:showVal val="1"/>
          <c:showCatName val="0"/>
          <c:showSerName val="0"/>
          <c:showPercent val="0"/>
          <c:showBubbleSize val="0"/>
        </c:dLbls>
        <c:gapWidth val="150"/>
        <c:gapDepth val="0"/>
        <c:shape val="box"/>
        <c:axId val="1801649104"/>
        <c:axId val="1801669744"/>
        <c:axId val="0"/>
      </c:bar3DChart>
      <c:catAx>
        <c:axId val="1801649104"/>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1801669744"/>
        <c:crosses val="autoZero"/>
        <c:auto val="1"/>
        <c:lblAlgn val="ctr"/>
        <c:lblOffset val="100"/>
        <c:noMultiLvlLbl val="0"/>
      </c:catAx>
      <c:valAx>
        <c:axId val="1801669744"/>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1801649104"/>
        <c:crosses val="autoZero"/>
        <c:crossBetween val="between"/>
      </c:valAx>
      <c:spPr>
        <a:noFill/>
        <a:ln>
          <a:noFill/>
        </a:ln>
        <a:effectLst/>
      </c:spPr>
    </c:plotArea>
    <c:legend>
      <c:legendPos val="r"/>
      <c:layout>
        <c:manualLayout>
          <c:xMode val="edge"/>
          <c:yMode val="edge"/>
          <c:x val="0.71618513372102988"/>
          <c:y val="0.3482474980941333"/>
          <c:w val="0.22873089393237614"/>
          <c:h val="0.2016442244393718"/>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solidFill>
              <a:srgbClr val="00B050"/>
            </a:solidFill>
          </a:ln>
          <a:effectLst>
            <a:outerShdw blurRad="50800" dist="38100" dir="2700000" algn="tl" rotWithShape="0">
              <a:prstClr val="black">
                <a:alpha val="40000"/>
              </a:prst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solidFill>
              <a:srgbClr val="00B050"/>
            </a:solidFill>
          </a:ln>
          <a:effectLst>
            <a:outerShdw blurRad="50800" dist="38100" dir="2700000" algn="tl" rotWithShape="0">
              <a:prstClr val="black">
                <a:alpha val="40000"/>
              </a:prst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v>Sum of registered</c:v>
          </c:tx>
          <c:spPr>
            <a:solidFill>
              <a:schemeClr val="accent1"/>
            </a:solidFill>
            <a:ln>
              <a:solidFill>
                <a:srgbClr val="00B050"/>
              </a:solidFill>
            </a:ln>
            <a:effectLst>
              <a:outerShdw blurRad="50800" dist="38100" dir="2700000" algn="tl" rotWithShape="0">
                <a:prstClr val="black">
                  <a:alpha val="40000"/>
                </a:prstClr>
              </a:outerShdw>
            </a:effectLst>
          </c:spPr>
          <c:invertIfNegative val="0"/>
          <c:cat>
            <c:strLit>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Lit>
          </c:cat>
          <c:val>
            <c:numLit>
              <c:formatCode>General</c:formatCode>
              <c:ptCount val="24"/>
              <c:pt idx="0">
                <c:v>629</c:v>
              </c:pt>
              <c:pt idx="1">
                <c:v>412</c:v>
              </c:pt>
              <c:pt idx="2">
                <c:v>261</c:v>
              </c:pt>
              <c:pt idx="3">
                <c:v>117</c:v>
              </c:pt>
              <c:pt idx="4">
                <c:v>62</c:v>
              </c:pt>
              <c:pt idx="5">
                <c:v>161</c:v>
              </c:pt>
              <c:pt idx="6">
                <c:v>801</c:v>
              </c:pt>
              <c:pt idx="7">
                <c:v>2275</c:v>
              </c:pt>
              <c:pt idx="8">
                <c:v>5261</c:v>
              </c:pt>
              <c:pt idx="9">
                <c:v>3500</c:v>
              </c:pt>
              <c:pt idx="10">
                <c:v>2037</c:v>
              </c:pt>
              <c:pt idx="11">
                <c:v>2127</c:v>
              </c:pt>
              <c:pt idx="12">
                <c:v>2801</c:v>
              </c:pt>
              <c:pt idx="13">
                <c:v>2863</c:v>
              </c:pt>
              <c:pt idx="14">
                <c:v>2734</c:v>
              </c:pt>
              <c:pt idx="15">
                <c:v>2816</c:v>
              </c:pt>
              <c:pt idx="16">
                <c:v>3435</c:v>
              </c:pt>
              <c:pt idx="17">
                <c:v>5774</c:v>
              </c:pt>
              <c:pt idx="18">
                <c:v>5061</c:v>
              </c:pt>
              <c:pt idx="19">
                <c:v>3474</c:v>
              </c:pt>
              <c:pt idx="20">
                <c:v>2516</c:v>
              </c:pt>
              <c:pt idx="21">
                <c:v>1879</c:v>
              </c:pt>
              <c:pt idx="22">
                <c:v>1405</c:v>
              </c:pt>
              <c:pt idx="23">
                <c:v>982</c:v>
              </c:pt>
            </c:numLit>
          </c:val>
          <c:extLst>
            <c:ext xmlns:c16="http://schemas.microsoft.com/office/drawing/2014/chart" uri="{C3380CC4-5D6E-409C-BE32-E72D297353CC}">
              <c16:uniqueId val="{00000000-D20C-49B1-ACA7-6CEB2FBF12FD}"/>
            </c:ext>
          </c:extLst>
        </c:ser>
        <c:ser>
          <c:idx val="1"/>
          <c:order val="1"/>
          <c:tx>
            <c:v>Sum of casual</c:v>
          </c:tx>
          <c:spPr>
            <a:solidFill>
              <a:schemeClr val="accent2"/>
            </a:solidFill>
            <a:ln>
              <a:noFill/>
            </a:ln>
            <a:effectLst/>
          </c:spPr>
          <c:invertIfNegative val="0"/>
          <c:cat>
            <c:strLit>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Lit>
          </c:cat>
          <c:val>
            <c:numLit>
              <c:formatCode>General</c:formatCode>
              <c:ptCount val="24"/>
              <c:pt idx="0">
                <c:v>74</c:v>
              </c:pt>
              <c:pt idx="1">
                <c:v>48</c:v>
              </c:pt>
              <c:pt idx="2">
                <c:v>33</c:v>
              </c:pt>
              <c:pt idx="3">
                <c:v>34</c:v>
              </c:pt>
              <c:pt idx="4">
                <c:v>7</c:v>
              </c:pt>
              <c:pt idx="5">
                <c:v>3</c:v>
              </c:pt>
              <c:pt idx="6">
                <c:v>21</c:v>
              </c:pt>
              <c:pt idx="7">
                <c:v>64</c:v>
              </c:pt>
              <c:pt idx="8">
                <c:v>127</c:v>
              </c:pt>
              <c:pt idx="9">
                <c:v>172</c:v>
              </c:pt>
              <c:pt idx="10">
                <c:v>216</c:v>
              </c:pt>
              <c:pt idx="11">
                <c:v>367</c:v>
              </c:pt>
              <c:pt idx="12">
                <c:v>482</c:v>
              </c:pt>
              <c:pt idx="13">
                <c:v>513</c:v>
              </c:pt>
              <c:pt idx="14">
                <c:v>466</c:v>
              </c:pt>
              <c:pt idx="15">
                <c:v>536</c:v>
              </c:pt>
              <c:pt idx="16">
                <c:v>493</c:v>
              </c:pt>
              <c:pt idx="17">
                <c:v>395</c:v>
              </c:pt>
              <c:pt idx="18">
                <c:v>222</c:v>
              </c:pt>
              <c:pt idx="19">
                <c:v>187</c:v>
              </c:pt>
              <c:pt idx="20">
                <c:v>140</c:v>
              </c:pt>
              <c:pt idx="21">
                <c:v>117</c:v>
              </c:pt>
              <c:pt idx="22">
                <c:v>103</c:v>
              </c:pt>
              <c:pt idx="23">
                <c:v>101</c:v>
              </c:pt>
            </c:numLit>
          </c:val>
          <c:extLst>
            <c:ext xmlns:c16="http://schemas.microsoft.com/office/drawing/2014/chart" uri="{C3380CC4-5D6E-409C-BE32-E72D297353CC}">
              <c16:uniqueId val="{00000001-D20C-49B1-ACA7-6CEB2FBF12FD}"/>
            </c:ext>
          </c:extLst>
        </c:ser>
        <c:dLbls>
          <c:showLegendKey val="0"/>
          <c:showVal val="0"/>
          <c:showCatName val="0"/>
          <c:showSerName val="0"/>
          <c:showPercent val="0"/>
          <c:showBubbleSize val="0"/>
        </c:dLbls>
        <c:gapWidth val="144"/>
        <c:overlap val="-15"/>
        <c:axId val="488140576"/>
        <c:axId val="488149216"/>
      </c:barChart>
      <c:catAx>
        <c:axId val="4881405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488149216"/>
        <c:crosses val="autoZero"/>
        <c:auto val="1"/>
        <c:lblAlgn val="ctr"/>
        <c:lblOffset val="100"/>
        <c:noMultiLvlLbl val="0"/>
      </c:catAx>
      <c:valAx>
        <c:axId val="488149216"/>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488140576"/>
        <c:crosses val="autoZero"/>
        <c:crossBetween val="between"/>
      </c:valAx>
      <c:spPr>
        <a:noFill/>
        <a:ln cmpd="sng">
          <a:noFill/>
        </a:ln>
        <a:effectLst>
          <a:outerShdw blurRad="571500" dist="50800" dir="5400000" sx="1000" sy="1000" algn="ctr" rotWithShape="0">
            <a:srgbClr val="000000"/>
          </a:outerShdw>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[project.xlsx]weth_cat wise users!PivotTable6</c:name>
    <c:fmtId val="11"/>
  </c:pivotSource>
  <c:chart>
    <c:autoTitleDeleted val="1"/>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0.11740325459317588"/>
          <c:y val="2.6664107547994132E-2"/>
          <c:w val="0.86037445319335082"/>
          <c:h val="0.86529181111691988"/>
        </c:manualLayout>
      </c:layout>
      <c:bar3DChart>
        <c:barDir val="col"/>
        <c:grouping val="clustered"/>
        <c:varyColors val="0"/>
        <c:ser>
          <c:idx val="0"/>
          <c:order val="0"/>
          <c:tx>
            <c:strRef>
              <c:f>'weth_cat wise users'!$C$12</c:f>
              <c:strCache>
                <c:ptCount val="1"/>
                <c:pt idx="0">
                  <c:v>Sum of casual</c:v>
                </c:pt>
              </c:strCache>
            </c:strRef>
          </c:tx>
          <c:spPr>
            <a:gradFill rotWithShape="1">
              <a:gsLst>
                <a:gs pos="0">
                  <a:schemeClr val="accent1">
                    <a:tint val="94000"/>
                    <a:satMod val="100000"/>
                    <a:lumMod val="104000"/>
                  </a:schemeClr>
                </a:gs>
                <a:gs pos="69000">
                  <a:schemeClr val="accent1">
                    <a:shade val="86000"/>
                    <a:satMod val="130000"/>
                    <a:lumMod val="102000"/>
                  </a:schemeClr>
                </a:gs>
                <a:gs pos="100000">
                  <a:schemeClr val="accent1">
                    <a:shade val="72000"/>
                    <a:satMod val="130000"/>
                    <a:lumMod val="100000"/>
                  </a:schemeClr>
                </a:gs>
              </a:gsLst>
              <a:lin ang="5400000" scaled="0"/>
            </a:gradFill>
            <a:ln>
              <a:noFill/>
            </a:ln>
            <a:effectLst>
              <a:outerShdw blurRad="50800" dist="38100" dir="5400000" sy="96000" rotWithShape="0">
                <a:srgbClr val="000000">
                  <a:alpha val="54000"/>
                </a:srgbClr>
              </a:outerShdw>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2"/>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'weth_cat wise users'!$B$13:$B$17</c:f>
              <c:strCache>
                <c:ptCount val="4"/>
                <c:pt idx="0">
                  <c:v>Clear/Partly Cloudy</c:v>
                </c:pt>
                <c:pt idx="1">
                  <c:v>Heavy Rain </c:v>
                </c:pt>
                <c:pt idx="2">
                  <c:v>Light Snow / Rain </c:v>
                </c:pt>
                <c:pt idx="3">
                  <c:v>Mist / cloudy </c:v>
                </c:pt>
              </c:strCache>
            </c:strRef>
          </c:cat>
          <c:val>
            <c:numRef>
              <c:f>'weth_cat wise users'!$C$13:$C$17</c:f>
              <c:numCache>
                <c:formatCode>General</c:formatCode>
                <c:ptCount val="4"/>
                <c:pt idx="0">
                  <c:v>3211</c:v>
                </c:pt>
                <c:pt idx="1">
                  <c:v>1</c:v>
                </c:pt>
                <c:pt idx="2">
                  <c:v>171</c:v>
                </c:pt>
                <c:pt idx="3">
                  <c:v>1538</c:v>
                </c:pt>
              </c:numCache>
            </c:numRef>
          </c:val>
          <c:extLst>
            <c:ext xmlns:c16="http://schemas.microsoft.com/office/drawing/2014/chart" uri="{C3380CC4-5D6E-409C-BE32-E72D297353CC}">
              <c16:uniqueId val="{00000000-1B7B-458B-AD09-38C65FC80421}"/>
            </c:ext>
          </c:extLst>
        </c:ser>
        <c:ser>
          <c:idx val="1"/>
          <c:order val="1"/>
          <c:tx>
            <c:strRef>
              <c:f>'weth_cat wise users'!$D$12</c:f>
              <c:strCache>
                <c:ptCount val="1"/>
                <c:pt idx="0">
                  <c:v>Sum of registered</c:v>
                </c:pt>
              </c:strCache>
            </c:strRef>
          </c:tx>
          <c:spPr>
            <a:gradFill rotWithShape="1">
              <a:gsLst>
                <a:gs pos="0">
                  <a:schemeClr val="accent2">
                    <a:tint val="94000"/>
                    <a:satMod val="100000"/>
                    <a:lumMod val="104000"/>
                  </a:schemeClr>
                </a:gs>
                <a:gs pos="69000">
                  <a:schemeClr val="accent2">
                    <a:shade val="86000"/>
                    <a:satMod val="130000"/>
                    <a:lumMod val="102000"/>
                  </a:schemeClr>
                </a:gs>
                <a:gs pos="100000">
                  <a:schemeClr val="accent2">
                    <a:shade val="72000"/>
                    <a:satMod val="130000"/>
                    <a:lumMod val="100000"/>
                  </a:schemeClr>
                </a:gs>
              </a:gsLst>
              <a:lin ang="5400000" scaled="0"/>
            </a:gradFill>
            <a:ln>
              <a:noFill/>
            </a:ln>
            <a:effectLst>
              <a:outerShdw blurRad="50800" dist="38100" dir="5400000" sy="96000" rotWithShape="0">
                <a:srgbClr val="000000">
                  <a:alpha val="54000"/>
                </a:srgbClr>
              </a:outerShdw>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2"/>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'weth_cat wise users'!$B$13:$B$17</c:f>
              <c:strCache>
                <c:ptCount val="4"/>
                <c:pt idx="0">
                  <c:v>Clear/Partly Cloudy</c:v>
                </c:pt>
                <c:pt idx="1">
                  <c:v>Heavy Rain </c:v>
                </c:pt>
                <c:pt idx="2">
                  <c:v>Light Snow / Rain </c:v>
                </c:pt>
                <c:pt idx="3">
                  <c:v>Mist / cloudy </c:v>
                </c:pt>
              </c:strCache>
            </c:strRef>
          </c:cat>
          <c:val>
            <c:numRef>
              <c:f>'weth_cat wise users'!$D$13:$D$17</c:f>
              <c:numCache>
                <c:formatCode>General</c:formatCode>
                <c:ptCount val="4"/>
                <c:pt idx="0">
                  <c:v>34162</c:v>
                </c:pt>
                <c:pt idx="1">
                  <c:v>35</c:v>
                </c:pt>
                <c:pt idx="2">
                  <c:v>2618</c:v>
                </c:pt>
                <c:pt idx="3">
                  <c:v>16568</c:v>
                </c:pt>
              </c:numCache>
            </c:numRef>
          </c:val>
          <c:extLst>
            <c:ext xmlns:c16="http://schemas.microsoft.com/office/drawing/2014/chart" uri="{C3380CC4-5D6E-409C-BE32-E72D297353CC}">
              <c16:uniqueId val="{00000001-1B7B-458B-AD09-38C65FC80421}"/>
            </c:ext>
          </c:extLst>
        </c:ser>
        <c:dLbls>
          <c:showLegendKey val="0"/>
          <c:showVal val="1"/>
          <c:showCatName val="0"/>
          <c:showSerName val="0"/>
          <c:showPercent val="0"/>
          <c:showBubbleSize val="0"/>
        </c:dLbls>
        <c:gapWidth val="150"/>
        <c:shape val="box"/>
        <c:axId val="1875574272"/>
        <c:axId val="1875572832"/>
        <c:axId val="0"/>
      </c:bar3DChart>
      <c:catAx>
        <c:axId val="1875574272"/>
        <c:scaling>
          <c:orientation val="minMax"/>
        </c:scaling>
        <c:delete val="0"/>
        <c:axPos val="b"/>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2"/>
                </a:solidFill>
                <a:latin typeface="+mn-lt"/>
                <a:ea typeface="+mn-ea"/>
                <a:cs typeface="+mn-cs"/>
              </a:defRPr>
            </a:pPr>
            <a:endParaRPr lang="en-US"/>
          </a:p>
        </c:txPr>
        <c:crossAx val="1875572832"/>
        <c:crosses val="autoZero"/>
        <c:auto val="1"/>
        <c:lblAlgn val="ctr"/>
        <c:lblOffset val="100"/>
        <c:noMultiLvlLbl val="0"/>
      </c:catAx>
      <c:valAx>
        <c:axId val="1875572832"/>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2"/>
                </a:solidFill>
                <a:latin typeface="+mn-lt"/>
                <a:ea typeface="+mn-ea"/>
                <a:cs typeface="+mn-cs"/>
              </a:defRPr>
            </a:pPr>
            <a:endParaRPr lang="en-US"/>
          </a:p>
        </c:txPr>
        <c:crossAx val="187557427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[project.xlsx]monwise count!PivotTable3</c:name>
    <c:fmtId val="10"/>
  </c:pivotSource>
  <c:chart>
    <c:autoTitleDeleted val="1"/>
    <c:pivotFmts>
      <c:pivotFmt>
        <c:idx val="0"/>
        <c:spPr>
          <a:solidFill>
            <a:schemeClr val="accent1"/>
          </a:solidFill>
          <a:ln>
            <a:noFill/>
          </a:ln>
          <a:effectLst/>
          <a:scene3d>
            <a:camera prst="orthographicFront"/>
            <a:lightRig rig="brightRoom" dir="t"/>
          </a:scene3d>
          <a:sp3d prstMaterial="flat">
            <a:bevelT w="50800" h="101600" prst="angle"/>
            <a:contourClr>
              <a:srgbClr val="000000"/>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1"/>
        <c:spPr>
          <a:solidFill>
            <a:schemeClr val="accent1"/>
          </a:solidFill>
          <a:ln>
            <a:noFill/>
          </a:ln>
          <a:effectLst/>
          <a:scene3d>
            <a:camera prst="orthographicFront"/>
            <a:lightRig rig="brightRoom" dir="t"/>
          </a:scene3d>
          <a:sp3d prstMaterial="flat">
            <a:bevelT w="50800" h="101600" prst="angle"/>
            <a:contourClr>
              <a:srgbClr val="000000"/>
            </a:contourClr>
          </a:sp3d>
        </c:spPr>
      </c:pivotFmt>
      <c:pivotFmt>
        <c:idx val="2"/>
        <c:spPr>
          <a:solidFill>
            <a:schemeClr val="accent1"/>
          </a:solidFill>
          <a:ln>
            <a:noFill/>
          </a:ln>
          <a:effectLst/>
          <a:scene3d>
            <a:camera prst="orthographicFront"/>
            <a:lightRig rig="brightRoom" dir="t"/>
          </a:scene3d>
          <a:sp3d prstMaterial="flat">
            <a:bevelT w="50800" h="101600" prst="angle"/>
            <a:contourClr>
              <a:srgbClr val="000000"/>
            </a:contourClr>
          </a:sp3d>
        </c:spPr>
      </c:pivotFmt>
      <c:pivotFmt>
        <c:idx val="3"/>
        <c:spPr>
          <a:solidFill>
            <a:schemeClr val="accent1"/>
          </a:solidFill>
          <a:ln>
            <a:noFill/>
          </a:ln>
          <a:effectLst/>
          <a:scene3d>
            <a:camera prst="orthographicFront"/>
            <a:lightRig rig="brightRoom" dir="t"/>
          </a:scene3d>
          <a:sp3d prstMaterial="flat">
            <a:bevelT w="50800" h="101600" prst="angle"/>
            <a:contourClr>
              <a:srgbClr val="000000"/>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4"/>
        <c:spPr>
          <a:solidFill>
            <a:schemeClr val="accent1"/>
          </a:solidFill>
          <a:ln>
            <a:noFill/>
          </a:ln>
          <a:effectLst/>
          <a:scene3d>
            <a:camera prst="orthographicFront"/>
            <a:lightRig rig="brightRoom" dir="t"/>
          </a:scene3d>
          <a:sp3d prstMaterial="flat">
            <a:bevelT w="50800" h="101600" prst="angle"/>
            <a:contourClr>
              <a:srgbClr val="000000"/>
            </a:contourClr>
          </a:sp3d>
        </c:spPr>
      </c:pivotFmt>
      <c:pivotFmt>
        <c:idx val="5"/>
        <c:spPr>
          <a:solidFill>
            <a:schemeClr val="accent1"/>
          </a:solidFill>
          <a:ln>
            <a:noFill/>
          </a:ln>
          <a:effectLst/>
          <a:scene3d>
            <a:camera prst="orthographicFront"/>
            <a:lightRig rig="brightRoom" dir="t"/>
          </a:scene3d>
          <a:sp3d prstMaterial="flat">
            <a:bevelT w="50800" h="101600" prst="angle"/>
            <a:contourClr>
              <a:srgbClr val="000000"/>
            </a:contourClr>
          </a:sp3d>
        </c:spPr>
      </c:pivotFmt>
      <c:pivotFmt>
        <c:idx val="6"/>
        <c:spPr>
          <a:solidFill>
            <a:schemeClr val="accent1"/>
          </a:solidFill>
          <a:ln>
            <a:noFill/>
          </a:ln>
          <a:effectLst/>
          <a:scene3d>
            <a:camera prst="orthographicFront"/>
            <a:lightRig rig="brightRoom" dir="t"/>
          </a:scene3d>
          <a:sp3d prstMaterial="flat">
            <a:bevelT w="50800" h="101600" prst="angle"/>
            <a:contourClr>
              <a:srgbClr val="000000"/>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7"/>
        <c:spPr>
          <a:solidFill>
            <a:schemeClr val="accent1"/>
          </a:solidFill>
          <a:ln>
            <a:noFill/>
          </a:ln>
          <a:effectLst/>
          <a:scene3d>
            <a:camera prst="orthographicFront"/>
            <a:lightRig rig="brightRoom" dir="t"/>
          </a:scene3d>
          <a:sp3d prstMaterial="flat">
            <a:bevelT w="50800" h="101600" prst="angle"/>
            <a:contourClr>
              <a:srgbClr val="000000"/>
            </a:contourClr>
          </a:sp3d>
        </c:spPr>
      </c:pivotFmt>
      <c:pivotFmt>
        <c:idx val="8"/>
        <c:spPr>
          <a:solidFill>
            <a:schemeClr val="accent1"/>
          </a:solidFill>
          <a:ln>
            <a:noFill/>
          </a:ln>
          <a:effectLst/>
          <a:scene3d>
            <a:camera prst="orthographicFront"/>
            <a:lightRig rig="brightRoom" dir="t"/>
          </a:scene3d>
          <a:sp3d prstMaterial="flat">
            <a:bevelT w="50800" h="101600" prst="angle"/>
            <a:contourClr>
              <a:srgbClr val="000000"/>
            </a:contourClr>
          </a:sp3d>
        </c:spPr>
      </c:pivotFmt>
    </c:pivotFmts>
    <c:plotArea>
      <c:layout>
        <c:manualLayout>
          <c:layoutTarget val="inner"/>
          <c:xMode val="edge"/>
          <c:yMode val="edge"/>
          <c:x val="6.8352615683508824E-2"/>
          <c:y val="0.2026949894785664"/>
          <c:w val="0.6616942250783151"/>
          <c:h val="0.70139583535773287"/>
        </c:manualLayout>
      </c:layout>
      <c:doughnutChart>
        <c:varyColors val="1"/>
        <c:ser>
          <c:idx val="0"/>
          <c:order val="0"/>
          <c:tx>
            <c:strRef>
              <c:f>'monwise count'!$C$9</c:f>
              <c:strCache>
                <c:ptCount val="1"/>
                <c:pt idx="0">
                  <c:v>Total</c:v>
                </c:pt>
              </c:strCache>
            </c:strRef>
          </c:tx>
          <c:dPt>
            <c:idx val="0"/>
            <c:bubble3D val="0"/>
            <c:spPr>
              <a:solidFill>
                <a:schemeClr val="accent1"/>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1-EADB-45DA-B6D1-2E89A689A8BB}"/>
              </c:ext>
            </c:extLst>
          </c:dPt>
          <c:dPt>
            <c:idx val="1"/>
            <c:bubble3D val="0"/>
            <c:spPr>
              <a:solidFill>
                <a:schemeClr val="accent2"/>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3-EADB-45DA-B6D1-2E89A689A8BB}"/>
              </c:ext>
            </c:extLst>
          </c:dPt>
          <c:dLbls>
            <c:spPr>
              <a:noFill/>
              <a:ln>
                <a:noFill/>
              </a:ln>
              <a:effectLst/>
            </c:spPr>
            <c:txPr>
              <a:bodyPr rot="0" spcFirstLastPara="1" vertOverflow="ellipsis" vert="horz" wrap="square" lIns="38100" tIns="19050" rIns="38100" bIns="19050" anchor="ctr" anchorCtr="1">
                <a:spAutoFit/>
              </a:bodyPr>
              <a:lstStyle/>
              <a:p>
                <a:pPr>
                  <a:defRPr sz="1800" b="1" i="0" u="none" strike="noStrike" kern="1200" baseline="0">
                    <a:solidFill>
                      <a:schemeClr val="lt1"/>
                    </a:solidFill>
                    <a:latin typeface="+mn-lt"/>
                    <a:ea typeface="+mn-ea"/>
                    <a:cs typeface="+mn-cs"/>
                  </a:defRPr>
                </a:pPr>
                <a:endParaRPr lang="en-US"/>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'monwise count'!$B$10:$B$12</c:f>
              <c:strCache>
                <c:ptCount val="2"/>
                <c:pt idx="0">
                  <c:v>Jan</c:v>
                </c:pt>
                <c:pt idx="1">
                  <c:v>Feb</c:v>
                </c:pt>
              </c:strCache>
            </c:strRef>
          </c:cat>
          <c:val>
            <c:numRef>
              <c:f>'monwise count'!$C$10:$C$12</c:f>
              <c:numCache>
                <c:formatCode>General</c:formatCode>
                <c:ptCount val="2"/>
                <c:pt idx="0">
                  <c:v>38189</c:v>
                </c:pt>
                <c:pt idx="1">
                  <c:v>20115</c:v>
                </c:pt>
              </c:numCache>
            </c:numRef>
          </c:val>
          <c:extLst>
            <c:ext xmlns:c16="http://schemas.microsoft.com/office/drawing/2014/chart" uri="{C3380CC4-5D6E-409C-BE32-E72D297353CC}">
              <c16:uniqueId val="{00000004-EADB-45DA-B6D1-2E89A689A8BB}"/>
            </c:ext>
          </c:extLst>
        </c:ser>
        <c:dLbls>
          <c:showLegendKey val="0"/>
          <c:showVal val="0"/>
          <c:showCatName val="0"/>
          <c:showSerName val="0"/>
          <c:showPercent val="1"/>
          <c:showBubbleSize val="0"/>
          <c:showLeaderLines val="1"/>
        </c:dLbls>
        <c:firstSliceAng val="0"/>
        <c:holeSize val="50"/>
      </c:doughnutChart>
      <c:spPr>
        <a:noFill/>
        <a:ln>
          <a:noFill/>
        </a:ln>
        <a:effectLst/>
      </c:spPr>
    </c:plotArea>
    <c:legend>
      <c:legendPos val="r"/>
      <c:layout>
        <c:manualLayout>
          <c:xMode val="edge"/>
          <c:yMode val="edge"/>
          <c:x val="0.75974225062908207"/>
          <c:y val="0.39197581726432801"/>
          <c:w val="0.2206499930861634"/>
          <c:h val="0.39094179341815638"/>
        </c:manualLayout>
      </c:layout>
      <c:overlay val="0"/>
      <c:spPr>
        <a:noFill/>
        <a:ln>
          <a:noFill/>
        </a:ln>
        <a:effectLst>
          <a:glow rad="139700">
            <a:schemeClr val="accent5">
              <a:satMod val="175000"/>
              <a:alpha val="40000"/>
            </a:schemeClr>
          </a:glow>
          <a:softEdge rad="533400"/>
        </a:effectLst>
      </c:spPr>
      <c:txPr>
        <a:bodyPr rot="0" spcFirstLastPara="1" vertOverflow="ellipsis" vert="horz" wrap="square" anchor="ctr" anchorCtr="1"/>
        <a:lstStyle/>
        <a:p>
          <a:pPr>
            <a:defRPr sz="1800" b="1"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[project.xlsx]weth_cat Avg!PivotTable8</c:name>
    <c:fmtId val="26"/>
  </c:pivotSource>
  <c:chart>
    <c:autoTitleDeleted val="1"/>
    <c:pivotFmts>
      <c:pivotFmt>
        <c:idx val="0"/>
        <c:spPr>
          <a:solidFill>
            <a:schemeClr val="accent1"/>
          </a:solidFill>
          <a:ln w="19050">
            <a:solidFill>
              <a:schemeClr val="lt1"/>
            </a:solidFill>
          </a:ln>
          <a:effectLst/>
        </c:spPr>
        <c:marker>
          <c:symbol val="circle"/>
          <c:size val="5"/>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19050">
            <a:solidFill>
              <a:schemeClr val="lt1"/>
            </a:solidFill>
          </a:ln>
          <a:effectLst/>
        </c:spPr>
      </c:pivotFmt>
      <c:pivotFmt>
        <c:idx val="2"/>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w="19050">
            <a:solidFill>
              <a:schemeClr val="lt1"/>
            </a:solidFill>
          </a:ln>
          <a:effectLst/>
        </c:spPr>
      </c:pivotFmt>
      <c:pivotFmt>
        <c:idx val="4"/>
        <c:spPr>
          <a:solidFill>
            <a:schemeClr val="accent1"/>
          </a:solidFill>
          <a:ln w="19050">
            <a:solidFill>
              <a:schemeClr val="lt1"/>
            </a:solidFill>
          </a:ln>
          <a:effectLst/>
        </c:spPr>
      </c:pivotFmt>
      <c:pivotFmt>
        <c:idx val="5"/>
        <c:spPr>
          <a:solidFill>
            <a:schemeClr val="accent1"/>
          </a:solidFill>
          <a:ln w="19050">
            <a:solidFill>
              <a:schemeClr val="lt1"/>
            </a:solidFill>
          </a:ln>
          <a:effectLst/>
        </c:spPr>
      </c:pivotFmt>
      <c:pivotFmt>
        <c:idx val="6"/>
        <c:spPr>
          <a:solidFill>
            <a:schemeClr val="accent1"/>
          </a:solidFill>
          <a:ln w="19050">
            <a:solidFill>
              <a:schemeClr val="lt1"/>
            </a:solidFill>
          </a:ln>
          <a:effectLst/>
        </c:spPr>
      </c:pivotFmt>
      <c:pivotFmt>
        <c:idx val="7"/>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w="19050">
            <a:solidFill>
              <a:schemeClr val="lt1"/>
            </a:solidFill>
          </a:ln>
          <a:effectLst/>
        </c:spPr>
      </c:pivotFmt>
      <c:pivotFmt>
        <c:idx val="9"/>
        <c:spPr>
          <a:solidFill>
            <a:schemeClr val="accent1"/>
          </a:solidFill>
          <a:ln w="19050">
            <a:solidFill>
              <a:schemeClr val="lt1"/>
            </a:solidFill>
          </a:ln>
          <a:effectLst/>
        </c:spPr>
      </c:pivotFmt>
      <c:pivotFmt>
        <c:idx val="10"/>
        <c:spPr>
          <a:solidFill>
            <a:schemeClr val="accent1"/>
          </a:solidFill>
          <a:ln w="19050">
            <a:solidFill>
              <a:schemeClr val="lt1"/>
            </a:solidFill>
          </a:ln>
          <a:effectLst/>
        </c:spPr>
      </c:pivotFmt>
      <c:pivotFmt>
        <c:idx val="11"/>
        <c:spPr>
          <a:solidFill>
            <a:schemeClr val="accent1"/>
          </a:solidFill>
          <a:ln w="19050">
            <a:solidFill>
              <a:schemeClr val="lt1"/>
            </a:solidFill>
          </a:ln>
          <a:effectLst/>
        </c:spPr>
      </c:pivotFmt>
      <c:pivotFmt>
        <c:idx val="12"/>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13"/>
        <c:spPr>
          <a:solidFill>
            <a:schemeClr val="accent1"/>
          </a:solidFill>
          <a:ln w="19050">
            <a:solidFill>
              <a:schemeClr val="lt1"/>
            </a:solidFill>
          </a:ln>
          <a:effectLst/>
        </c:spPr>
      </c:pivotFmt>
      <c:pivotFmt>
        <c:idx val="14"/>
        <c:spPr>
          <a:solidFill>
            <a:schemeClr val="accent1"/>
          </a:solidFill>
          <a:ln w="19050">
            <a:solidFill>
              <a:schemeClr val="lt1"/>
            </a:solidFill>
          </a:ln>
          <a:effectLst/>
        </c:spPr>
      </c:pivotFmt>
      <c:pivotFmt>
        <c:idx val="15"/>
        <c:spPr>
          <a:solidFill>
            <a:schemeClr val="accent1"/>
          </a:solidFill>
          <a:ln w="19050">
            <a:solidFill>
              <a:schemeClr val="lt1"/>
            </a:solidFill>
          </a:ln>
          <a:effectLst/>
        </c:spPr>
      </c:pivotFmt>
      <c:pivotFmt>
        <c:idx val="16"/>
        <c:spPr>
          <a:solidFill>
            <a:schemeClr val="accent1"/>
          </a:solidFill>
          <a:ln w="19050">
            <a:solidFill>
              <a:schemeClr val="lt1"/>
            </a:solidFill>
          </a:ln>
          <a:effectLst/>
        </c:spPr>
      </c:pivotFmt>
      <c:pivotFmt>
        <c:idx val="17"/>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18"/>
        <c:spPr>
          <a:solidFill>
            <a:schemeClr val="accent1"/>
          </a:solidFill>
          <a:ln w="19050">
            <a:solidFill>
              <a:schemeClr val="lt1"/>
            </a:solidFill>
          </a:ln>
          <a:effectLst/>
        </c:spPr>
      </c:pivotFmt>
      <c:pivotFmt>
        <c:idx val="19"/>
        <c:spPr>
          <a:solidFill>
            <a:schemeClr val="accent1"/>
          </a:solidFill>
          <a:ln w="19050">
            <a:solidFill>
              <a:schemeClr val="lt1"/>
            </a:solidFill>
          </a:ln>
          <a:effectLst/>
        </c:spPr>
      </c:pivotFmt>
      <c:pivotFmt>
        <c:idx val="20"/>
        <c:spPr>
          <a:solidFill>
            <a:schemeClr val="accent1"/>
          </a:solidFill>
          <a:ln w="19050">
            <a:solidFill>
              <a:schemeClr val="lt1"/>
            </a:solidFill>
          </a:ln>
          <a:effectLst/>
        </c:spPr>
      </c:pivotFmt>
      <c:pivotFmt>
        <c:idx val="21"/>
        <c:spPr>
          <a:solidFill>
            <a:schemeClr val="accent1"/>
          </a:solidFill>
          <a:ln w="19050">
            <a:solidFill>
              <a:schemeClr val="lt1"/>
            </a:solidFill>
          </a:ln>
          <a:effectLst/>
        </c:spPr>
      </c:pivotFmt>
    </c:pivotFmts>
    <c:plotArea>
      <c:layout>
        <c:manualLayout>
          <c:layoutTarget val="inner"/>
          <c:xMode val="edge"/>
          <c:yMode val="edge"/>
          <c:x val="9.3979450140812007E-2"/>
          <c:y val="0.14485217132299635"/>
          <c:w val="0.62363995919653969"/>
          <c:h val="0.71411021428997234"/>
        </c:manualLayout>
      </c:layout>
      <c:pieChart>
        <c:varyColors val="1"/>
        <c:ser>
          <c:idx val="0"/>
          <c:order val="0"/>
          <c:tx>
            <c:strRef>
              <c:f>'weth_cat Avg'!$C$10</c:f>
              <c:strCache>
                <c:ptCount val="1"/>
                <c:pt idx="0">
                  <c:v>Total</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9A54-4386-9514-2A0B78F702DD}"/>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9A54-4386-9514-2A0B78F702DD}"/>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9A54-4386-9514-2A0B78F702DD}"/>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9A54-4386-9514-2A0B78F702DD}"/>
              </c:ext>
            </c:extLst>
          </c:dPt>
          <c:dLbls>
            <c:dLbl>
              <c:idx val="0"/>
              <c:layout>
                <c:manualLayout>
                  <c:x val="-0.17599104213053887"/>
                  <c:y val="0.10041944457901993"/>
                </c:manualLayout>
              </c:layout>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9A54-4386-9514-2A0B78F702DD}"/>
                </c:ext>
              </c:extLst>
            </c:dLbl>
            <c:dLbl>
              <c:idx val="1"/>
              <c:layout>
                <c:manualLayout>
                  <c:x val="-0.12117641986488774"/>
                  <c:y val="-0.15453746540899563"/>
                </c:manualLayout>
              </c:layout>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9A54-4386-9514-2A0B78F702DD}"/>
                </c:ext>
              </c:extLst>
            </c:dLbl>
            <c:dLbl>
              <c:idx val="2"/>
              <c:layout>
                <c:manualLayout>
                  <c:x val="0.13678283106029243"/>
                  <c:y val="-0.13741283124801312"/>
                </c:manualLayout>
              </c:layout>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9A54-4386-9514-2A0B78F702DD}"/>
                </c:ext>
              </c:extLst>
            </c:dLbl>
            <c:dLbl>
              <c:idx val="3"/>
              <c:layout>
                <c:manualLayout>
                  <c:x val="0.17665851718564893"/>
                  <c:y val="8.90343548484539E-2"/>
                </c:manualLayout>
              </c:layout>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9A54-4386-9514-2A0B78F702DD}"/>
                </c:ext>
              </c:extLst>
            </c:dLbl>
            <c:spPr>
              <a:noFill/>
              <a:ln>
                <a:noFill/>
              </a:ln>
              <a:effectLst/>
            </c:spPr>
            <c:txPr>
              <a:bodyPr rot="0" spcFirstLastPara="1" vertOverflow="ellipsis" vert="horz" wrap="square" lIns="38100" tIns="19050" rIns="38100" bIns="19050" anchor="ctr" anchorCtr="1">
                <a:spAutoFit/>
              </a:bodyPr>
              <a:lstStyle/>
              <a:p>
                <a:pPr>
                  <a:defRPr lang="en-US" sz="1800" b="0" i="0" u="none" strike="noStrike" kern="1200" baseline="0">
                    <a:solidFill>
                      <a:schemeClr val="bg1"/>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'weth_cat Avg'!$B$11:$B$15</c:f>
              <c:strCache>
                <c:ptCount val="4"/>
                <c:pt idx="0">
                  <c:v>Clear/Partly Cloudy</c:v>
                </c:pt>
                <c:pt idx="1">
                  <c:v>Heavy Rain </c:v>
                </c:pt>
                <c:pt idx="2">
                  <c:v>Light Snow / Rain </c:v>
                </c:pt>
                <c:pt idx="3">
                  <c:v>Mist / cloudy </c:v>
                </c:pt>
              </c:strCache>
            </c:strRef>
          </c:cat>
          <c:val>
            <c:numRef>
              <c:f>'weth_cat Avg'!$C$11:$C$15</c:f>
              <c:numCache>
                <c:formatCode>0.00</c:formatCode>
                <c:ptCount val="4"/>
                <c:pt idx="0">
                  <c:v>61.671617161716171</c:v>
                </c:pt>
                <c:pt idx="1">
                  <c:v>36</c:v>
                </c:pt>
                <c:pt idx="2">
                  <c:v>33.202380952380949</c:v>
                </c:pt>
                <c:pt idx="3">
                  <c:v>58.595469255663431</c:v>
                </c:pt>
              </c:numCache>
            </c:numRef>
          </c:val>
          <c:extLst>
            <c:ext xmlns:c16="http://schemas.microsoft.com/office/drawing/2014/chart" uri="{C3380CC4-5D6E-409C-BE32-E72D297353CC}">
              <c16:uniqueId val="{00000008-9A54-4386-9514-2A0B78F702DD}"/>
            </c:ext>
          </c:extLst>
        </c:ser>
        <c:dLbls>
          <c:showLegendKey val="0"/>
          <c:showVal val="0"/>
          <c:showCatName val="0"/>
          <c:showSerName val="0"/>
          <c:showPercent val="0"/>
          <c:showBubbleSize val="0"/>
          <c:showLeaderLines val="1"/>
        </c:dLbls>
        <c:firstSliceAng val="0"/>
      </c:pieChart>
      <c:spPr>
        <a:noFill/>
        <a:ln>
          <a:noFill/>
        </a:ln>
        <a:effectLst/>
      </c:spPr>
    </c:plotArea>
    <c:legend>
      <c:legendPos val="r"/>
      <c:layout>
        <c:manualLayout>
          <c:xMode val="edge"/>
          <c:yMode val="edge"/>
          <c:x val="0.72200066479155856"/>
          <c:y val="0.21830548945081729"/>
          <c:w val="0.27533193958483088"/>
          <c:h val="0.6146019215566817"/>
        </c:manualLayout>
      </c:layout>
      <c:overlay val="0"/>
      <c:spPr>
        <a:noFill/>
        <a:ln>
          <a:noFill/>
        </a:ln>
        <a:effectLst/>
      </c:spPr>
      <c:txPr>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[project.xlsx]Temp_catg!PivotTable7</c:name>
    <c:fmtId val="14"/>
  </c:pivotSource>
  <c:chart>
    <c:autoTitleDeleted val="1"/>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1750" cap="rnd">
            <a:solidFill>
              <a:schemeClr val="accent1"/>
            </a:solidFill>
            <a:round/>
          </a:ln>
          <a:effectLst/>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12700">
              <a:solidFill>
                <a:schemeClr val="lt2"/>
              </a:solid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1750" cap="rnd">
            <a:solidFill>
              <a:schemeClr val="accent1"/>
            </a:solidFill>
            <a:round/>
          </a:ln>
          <a:effectLst/>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12700">
              <a:solidFill>
                <a:schemeClr val="lt2"/>
              </a:solid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1750" cap="rnd">
            <a:solidFill>
              <a:schemeClr val="accent1"/>
            </a:solidFill>
            <a:round/>
          </a:ln>
          <a:effectLst/>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12700">
              <a:solidFill>
                <a:schemeClr val="lt2"/>
              </a:solid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1750" cap="rnd">
            <a:solidFill>
              <a:schemeClr val="accent1"/>
            </a:solidFill>
            <a:round/>
          </a:ln>
          <a:effectLst/>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12700">
              <a:solidFill>
                <a:schemeClr val="lt2"/>
              </a:solid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1750" cap="rnd">
            <a:solidFill>
              <a:schemeClr val="accent1"/>
            </a:solidFill>
            <a:round/>
          </a:ln>
          <a:effectLst/>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12700">
              <a:solidFill>
                <a:schemeClr val="lt2"/>
              </a:solid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1750" cap="rnd">
            <a:solidFill>
              <a:schemeClr val="accent1"/>
            </a:solidFill>
            <a:round/>
          </a:ln>
          <a:effectLst/>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12700">
              <a:solidFill>
                <a:schemeClr val="lt2"/>
              </a:solid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s>
    <c:plotArea>
      <c:layout/>
      <c:lineChart>
        <c:grouping val="stacked"/>
        <c:varyColors val="0"/>
        <c:ser>
          <c:idx val="0"/>
          <c:order val="0"/>
          <c:tx>
            <c:strRef>
              <c:f>Temp_catg!$C$12</c:f>
              <c:strCache>
                <c:ptCount val="1"/>
                <c:pt idx="0">
                  <c:v>Sum of casual</c:v>
                </c:pt>
              </c:strCache>
            </c:strRef>
          </c:tx>
          <c:spPr>
            <a:ln w="31750" cap="rnd">
              <a:solidFill>
                <a:schemeClr val="accent1"/>
              </a:solidFill>
              <a:round/>
            </a:ln>
            <a:effectLst>
              <a:outerShdw blurRad="50800" dist="38100" dir="5400000" sy="96000" rotWithShape="0">
                <a:srgbClr val="000000">
                  <a:alpha val="54000"/>
                </a:srgbClr>
              </a:outerShdw>
            </a:effectLst>
          </c:spPr>
          <c:marker>
            <c:symbol val="circle"/>
            <c:size val="6"/>
            <c:spPr>
              <a:gradFill rotWithShape="1">
                <a:gsLst>
                  <a:gs pos="0">
                    <a:schemeClr val="accent1">
                      <a:tint val="94000"/>
                      <a:satMod val="100000"/>
                      <a:lumMod val="104000"/>
                    </a:schemeClr>
                  </a:gs>
                  <a:gs pos="69000">
                    <a:schemeClr val="accent1">
                      <a:shade val="86000"/>
                      <a:satMod val="130000"/>
                      <a:lumMod val="102000"/>
                    </a:schemeClr>
                  </a:gs>
                  <a:gs pos="100000">
                    <a:schemeClr val="accent1">
                      <a:shade val="72000"/>
                      <a:satMod val="130000"/>
                      <a:lumMod val="100000"/>
                    </a:schemeClr>
                  </a:gs>
                </a:gsLst>
                <a:lin ang="5400000" scaled="0"/>
              </a:gradFill>
              <a:ln w="12700">
                <a:solidFill>
                  <a:schemeClr val="lt2"/>
                </a:solidFill>
                <a:round/>
              </a:ln>
              <a:effectLst>
                <a:outerShdw blurRad="50800" dist="38100" dir="5400000" sy="96000" rotWithShape="0">
                  <a:srgbClr val="000000">
                    <a:alpha val="54000"/>
                  </a:srgbClr>
                </a:outerShdw>
              </a:effectLst>
            </c:spPr>
          </c:marker>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2"/>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Temp_catg!$B$13:$B$20</c:f>
              <c:strCache>
                <c:ptCount val="7"/>
                <c:pt idx="0">
                  <c:v>Sunday</c:v>
                </c:pt>
                <c:pt idx="1">
                  <c:v>Monday</c:v>
                </c:pt>
                <c:pt idx="2">
                  <c:v>Tuesday</c:v>
                </c:pt>
                <c:pt idx="3">
                  <c:v>Wednesday</c:v>
                </c:pt>
                <c:pt idx="4">
                  <c:v>Thursday</c:v>
                </c:pt>
                <c:pt idx="5">
                  <c:v>Friday</c:v>
                </c:pt>
                <c:pt idx="6">
                  <c:v>Saturday</c:v>
                </c:pt>
              </c:strCache>
            </c:strRef>
          </c:cat>
          <c:val>
            <c:numRef>
              <c:f>Temp_catg!$C$13:$C$20</c:f>
              <c:numCache>
                <c:formatCode>General</c:formatCode>
                <c:ptCount val="7"/>
                <c:pt idx="0">
                  <c:v>1477</c:v>
                </c:pt>
                <c:pt idx="1">
                  <c:v>534</c:v>
                </c:pt>
                <c:pt idx="2">
                  <c:v>457</c:v>
                </c:pt>
                <c:pt idx="3">
                  <c:v>344</c:v>
                </c:pt>
                <c:pt idx="4">
                  <c:v>332</c:v>
                </c:pt>
                <c:pt idx="5">
                  <c:v>552</c:v>
                </c:pt>
                <c:pt idx="6">
                  <c:v>1225</c:v>
                </c:pt>
              </c:numCache>
            </c:numRef>
          </c:val>
          <c:smooth val="0"/>
          <c:extLst>
            <c:ext xmlns:c16="http://schemas.microsoft.com/office/drawing/2014/chart" uri="{C3380CC4-5D6E-409C-BE32-E72D297353CC}">
              <c16:uniqueId val="{00000000-9333-46E6-B139-4A601216B682}"/>
            </c:ext>
          </c:extLst>
        </c:ser>
        <c:ser>
          <c:idx val="1"/>
          <c:order val="1"/>
          <c:tx>
            <c:strRef>
              <c:f>Temp_catg!$D$12</c:f>
              <c:strCache>
                <c:ptCount val="1"/>
                <c:pt idx="0">
                  <c:v>Sum of registered</c:v>
                </c:pt>
              </c:strCache>
            </c:strRef>
          </c:tx>
          <c:spPr>
            <a:ln w="31750" cap="rnd">
              <a:solidFill>
                <a:schemeClr val="accent2"/>
              </a:solidFill>
              <a:round/>
            </a:ln>
            <a:effectLst>
              <a:outerShdw blurRad="50800" dist="38100" dir="5400000" sy="96000" rotWithShape="0">
                <a:srgbClr val="000000">
                  <a:alpha val="54000"/>
                </a:srgbClr>
              </a:outerShdw>
            </a:effectLst>
          </c:spPr>
          <c:marker>
            <c:symbol val="circle"/>
            <c:size val="6"/>
            <c:spPr>
              <a:gradFill rotWithShape="1">
                <a:gsLst>
                  <a:gs pos="0">
                    <a:schemeClr val="accent2">
                      <a:tint val="94000"/>
                      <a:satMod val="100000"/>
                      <a:lumMod val="104000"/>
                    </a:schemeClr>
                  </a:gs>
                  <a:gs pos="69000">
                    <a:schemeClr val="accent2">
                      <a:shade val="86000"/>
                      <a:satMod val="130000"/>
                      <a:lumMod val="102000"/>
                    </a:schemeClr>
                  </a:gs>
                  <a:gs pos="100000">
                    <a:schemeClr val="accent2">
                      <a:shade val="72000"/>
                      <a:satMod val="130000"/>
                      <a:lumMod val="100000"/>
                    </a:schemeClr>
                  </a:gs>
                </a:gsLst>
                <a:lin ang="5400000" scaled="0"/>
              </a:gradFill>
              <a:ln w="12700">
                <a:solidFill>
                  <a:schemeClr val="lt2"/>
                </a:solidFill>
                <a:round/>
              </a:ln>
              <a:effectLst>
                <a:outerShdw blurRad="50800" dist="38100" dir="5400000" sy="96000" rotWithShape="0">
                  <a:srgbClr val="000000">
                    <a:alpha val="54000"/>
                  </a:srgbClr>
                </a:outerShdw>
              </a:effectLst>
            </c:spPr>
          </c:marker>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2"/>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Temp_catg!$B$13:$B$20</c:f>
              <c:strCache>
                <c:ptCount val="7"/>
                <c:pt idx="0">
                  <c:v>Sunday</c:v>
                </c:pt>
                <c:pt idx="1">
                  <c:v>Monday</c:v>
                </c:pt>
                <c:pt idx="2">
                  <c:v>Tuesday</c:v>
                </c:pt>
                <c:pt idx="3">
                  <c:v>Wednesday</c:v>
                </c:pt>
                <c:pt idx="4">
                  <c:v>Thursday</c:v>
                </c:pt>
                <c:pt idx="5">
                  <c:v>Friday</c:v>
                </c:pt>
                <c:pt idx="6">
                  <c:v>Saturday</c:v>
                </c:pt>
              </c:strCache>
            </c:strRef>
          </c:cat>
          <c:val>
            <c:numRef>
              <c:f>Temp_catg!$D$13:$D$20</c:f>
              <c:numCache>
                <c:formatCode>General</c:formatCode>
                <c:ptCount val="7"/>
                <c:pt idx="0">
                  <c:v>6644</c:v>
                </c:pt>
                <c:pt idx="1">
                  <c:v>7916</c:v>
                </c:pt>
                <c:pt idx="2">
                  <c:v>7926</c:v>
                </c:pt>
                <c:pt idx="3">
                  <c:v>7705</c:v>
                </c:pt>
                <c:pt idx="4">
                  <c:v>8126</c:v>
                </c:pt>
                <c:pt idx="5">
                  <c:v>8543</c:v>
                </c:pt>
                <c:pt idx="6">
                  <c:v>6523</c:v>
                </c:pt>
              </c:numCache>
            </c:numRef>
          </c:val>
          <c:smooth val="0"/>
          <c:extLst>
            <c:ext xmlns:c16="http://schemas.microsoft.com/office/drawing/2014/chart" uri="{C3380CC4-5D6E-409C-BE32-E72D297353CC}">
              <c16:uniqueId val="{00000001-9333-46E6-B139-4A601216B682}"/>
            </c:ext>
          </c:extLst>
        </c:ser>
        <c:dLbls>
          <c:dLblPos val="t"/>
          <c:showLegendKey val="0"/>
          <c:showVal val="1"/>
          <c:showCatName val="0"/>
          <c:showSerName val="0"/>
          <c:showPercent val="0"/>
          <c:showBubbleSize val="0"/>
        </c:dLbls>
        <c:marker val="1"/>
        <c:smooth val="0"/>
        <c:axId val="1782732992"/>
        <c:axId val="1782703712"/>
      </c:lineChart>
      <c:catAx>
        <c:axId val="1782732992"/>
        <c:scaling>
          <c:orientation val="minMax"/>
        </c:scaling>
        <c:delete val="0"/>
        <c:axPos val="b"/>
        <c:numFmt formatCode="General" sourceLinked="1"/>
        <c:majorTickMark val="out"/>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2"/>
                </a:solidFill>
                <a:latin typeface="+mn-lt"/>
                <a:ea typeface="+mn-ea"/>
                <a:cs typeface="+mn-cs"/>
              </a:defRPr>
            </a:pPr>
            <a:endParaRPr lang="en-US"/>
          </a:p>
        </c:txPr>
        <c:crossAx val="1782703712"/>
        <c:crosses val="autoZero"/>
        <c:auto val="1"/>
        <c:lblAlgn val="ctr"/>
        <c:lblOffset val="100"/>
        <c:noMultiLvlLbl val="0"/>
      </c:catAx>
      <c:valAx>
        <c:axId val="1782703712"/>
        <c:scaling>
          <c:orientation val="minMax"/>
        </c:scaling>
        <c:delete val="0"/>
        <c:axPos val="l"/>
        <c:majorGridlines>
          <c:spPr>
            <a:ln w="9525" cap="flat" cmpd="sng" algn="ctr">
              <a:solidFill>
                <a:schemeClr val="accent1">
                  <a:shade val="95000"/>
                  <a:satMod val="105000"/>
                  <a:alpha val="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2"/>
                </a:solidFill>
                <a:latin typeface="+mn-lt"/>
                <a:ea typeface="+mn-ea"/>
                <a:cs typeface="+mn-cs"/>
              </a:defRPr>
            </a:pPr>
            <a:endParaRPr lang="en-US"/>
          </a:p>
        </c:txPr>
        <c:crossAx val="1782732992"/>
        <c:crosses val="autoZero"/>
        <c:crossBetween val="between"/>
      </c:valAx>
      <c:spPr>
        <a:noFill/>
        <a:ln>
          <a:noFill/>
        </a:ln>
        <a:effectLst/>
      </c:spPr>
    </c:plotArea>
    <c:plotVisOnly val="1"/>
    <c:dispBlanksAs val="zero"/>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[project.xlsx]Temp_cat sum of casu &amp; reg!PivotTable10</c:name>
    <c:fmtId val="11"/>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4724270002627673"/>
          <c:y val="7.2530618010361409E-3"/>
          <c:w val="0.77447472754677804"/>
          <c:h val="0.91751269856922413"/>
        </c:manualLayout>
      </c:layout>
      <c:barChart>
        <c:barDir val="bar"/>
        <c:grouping val="clustered"/>
        <c:varyColors val="0"/>
        <c:ser>
          <c:idx val="0"/>
          <c:order val="0"/>
          <c:tx>
            <c:strRef>
              <c:f>'Temp_cat sum of casu &amp; reg'!$C$9</c:f>
              <c:strCache>
                <c:ptCount val="1"/>
                <c:pt idx="0">
                  <c:v>Sum of casual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'Temp_cat sum of casu &amp; reg'!$B$10:$B$13</c:f>
              <c:strCache>
                <c:ptCount val="3"/>
                <c:pt idx="0">
                  <c:v>Cold</c:v>
                </c:pt>
                <c:pt idx="1">
                  <c:v>Mild</c:v>
                </c:pt>
                <c:pt idx="2">
                  <c:v>Warm</c:v>
                </c:pt>
              </c:strCache>
            </c:strRef>
          </c:cat>
          <c:val>
            <c:numRef>
              <c:f>'Temp_cat sum of casu &amp; reg'!$C$10:$C$13</c:f>
              <c:numCache>
                <c:formatCode>General</c:formatCode>
                <c:ptCount val="3"/>
                <c:pt idx="0">
                  <c:v>970</c:v>
                </c:pt>
                <c:pt idx="1">
                  <c:v>1984</c:v>
                </c:pt>
                <c:pt idx="2">
                  <c:v>1967</c:v>
                </c:pt>
              </c:numCache>
            </c:numRef>
          </c:val>
          <c:extLst>
            <c:ext xmlns:c16="http://schemas.microsoft.com/office/drawing/2014/chart" uri="{C3380CC4-5D6E-409C-BE32-E72D297353CC}">
              <c16:uniqueId val="{00000000-BDD9-4FFC-9AA4-3631A6A603E9}"/>
            </c:ext>
          </c:extLst>
        </c:ser>
        <c:ser>
          <c:idx val="1"/>
          <c:order val="1"/>
          <c:tx>
            <c:strRef>
              <c:f>'Temp_cat sum of casu &amp; reg'!$D$9</c:f>
              <c:strCache>
                <c:ptCount val="1"/>
                <c:pt idx="0">
                  <c:v>Sum of registered</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'Temp_cat sum of casu &amp; reg'!$B$10:$B$13</c:f>
              <c:strCache>
                <c:ptCount val="3"/>
                <c:pt idx="0">
                  <c:v>Cold</c:v>
                </c:pt>
                <c:pt idx="1">
                  <c:v>Mild</c:v>
                </c:pt>
                <c:pt idx="2">
                  <c:v>Warm</c:v>
                </c:pt>
              </c:strCache>
            </c:strRef>
          </c:cat>
          <c:val>
            <c:numRef>
              <c:f>'Temp_cat sum of casu &amp; reg'!$D$10:$D$13</c:f>
              <c:numCache>
                <c:formatCode>General</c:formatCode>
                <c:ptCount val="3"/>
                <c:pt idx="0">
                  <c:v>19296</c:v>
                </c:pt>
                <c:pt idx="1">
                  <c:v>24234</c:v>
                </c:pt>
                <c:pt idx="2">
                  <c:v>9853</c:v>
                </c:pt>
              </c:numCache>
            </c:numRef>
          </c:val>
          <c:extLst>
            <c:ext xmlns:c16="http://schemas.microsoft.com/office/drawing/2014/chart" uri="{C3380CC4-5D6E-409C-BE32-E72D297353CC}">
              <c16:uniqueId val="{00000001-BDD9-4FFC-9AA4-3631A6A603E9}"/>
            </c:ext>
          </c:extLst>
        </c:ser>
        <c:dLbls>
          <c:dLblPos val="outEnd"/>
          <c:showLegendKey val="0"/>
          <c:showVal val="1"/>
          <c:showCatName val="0"/>
          <c:showSerName val="0"/>
          <c:showPercent val="0"/>
          <c:showBubbleSize val="0"/>
        </c:dLbls>
        <c:gapWidth val="182"/>
        <c:axId val="488169856"/>
        <c:axId val="488168896"/>
      </c:barChart>
      <c:catAx>
        <c:axId val="488169856"/>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n-US"/>
          </a:p>
        </c:txPr>
        <c:crossAx val="488168896"/>
        <c:crosses val="autoZero"/>
        <c:auto val="1"/>
        <c:lblAlgn val="ctr"/>
        <c:lblOffset val="100"/>
        <c:noMultiLvlLbl val="0"/>
      </c:catAx>
      <c:valAx>
        <c:axId val="488168896"/>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488169856"/>
        <c:crosses val="autoZero"/>
        <c:crossBetween val="between"/>
      </c:valAx>
      <c:spPr>
        <a:noFill/>
        <a:ln>
          <a:noFill/>
        </a:ln>
        <a:effectLst/>
      </c:spPr>
    </c:plotArea>
    <c:legend>
      <c:legendPos val="r"/>
      <c:layout>
        <c:manualLayout>
          <c:xMode val="edge"/>
          <c:yMode val="edge"/>
          <c:x val="0.63889243198899359"/>
          <c:y val="5.5540764299701319E-2"/>
          <c:w val="0.2755558446499386"/>
          <c:h val="0.28006032415284809"/>
        </c:manualLayout>
      </c:layout>
      <c:overlay val="0"/>
      <c:spPr>
        <a:noFill/>
        <a:ln>
          <a:noFill/>
        </a:ln>
        <a:effectLst/>
      </c:spPr>
      <c:txPr>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[project.xlsx]time_prd combo!PivotTable1</c:name>
    <c:fmtId val="9"/>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2"/>
            </a:solidFill>
            <a:round/>
          </a:ln>
          <a:effectLst/>
        </c:spPr>
        <c:marker>
          <c:symbol val="none"/>
        </c:marker>
        <c:dLbl>
          <c:idx val="0"/>
          <c:layout>
            <c:manualLayout>
              <c:x val="-4.1666666666666664E-2"/>
              <c:y val="7.407407407407398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chemeClr val="accent2"/>
            </a:solidFill>
            <a:round/>
          </a:ln>
          <a:effectLst/>
        </c:spPr>
        <c:marker>
          <c:symbol val="none"/>
        </c:marker>
        <c:dLbl>
          <c:idx val="0"/>
          <c:layout>
            <c:manualLayout>
              <c:x val="-4.1666666666666664E-2"/>
              <c:y val="7.407407407407398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chemeClr val="accent2"/>
            </a:solidFill>
            <a:round/>
          </a:ln>
          <a:effectLst/>
        </c:spPr>
        <c:marker>
          <c:symbol val="none"/>
        </c:marker>
        <c:dLbl>
          <c:idx val="0"/>
          <c:layout>
            <c:manualLayout>
              <c:x val="-4.1666666666666664E-2"/>
              <c:y val="7.407407407407398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9.4414938759054864E-2"/>
          <c:y val="2.6175119473786309E-2"/>
          <c:w val="0.79669120750603006"/>
          <c:h val="0.82065724543119312"/>
        </c:manualLayout>
      </c:layout>
      <c:barChart>
        <c:barDir val="col"/>
        <c:grouping val="clustered"/>
        <c:varyColors val="0"/>
        <c:ser>
          <c:idx val="0"/>
          <c:order val="0"/>
          <c:tx>
            <c:strRef>
              <c:f>'time_prd combo'!$C$10</c:f>
              <c:strCache>
                <c:ptCount val="1"/>
                <c:pt idx="0">
                  <c:v>Sum of casual</c:v>
                </c:pt>
              </c:strCache>
            </c:strRef>
          </c:tx>
          <c:spPr>
            <a:solidFill>
              <a:schemeClr val="accent1"/>
            </a:solidFill>
            <a:ln>
              <a:noFill/>
            </a:ln>
            <a:effectLst/>
          </c:spPr>
          <c:invertIfNegative val="0"/>
          <c:dLbls>
            <c:dLbl>
              <c:idx val="1"/>
              <c:layout>
                <c:manualLayout>
                  <c:x val="0"/>
                  <c:y val="6.9986950464669268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E6D9-44F3-BC8A-D1040AFB2758}"/>
                </c:ext>
              </c:extLst>
            </c:dLbl>
            <c:dLbl>
              <c:idx val="2"/>
              <c:layout>
                <c:manualLayout>
                  <c:x val="1.9076304316021362E-3"/>
                  <c:y val="9.3315933952892345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E6D9-44F3-BC8A-D1040AFB2758}"/>
                </c:ext>
              </c:extLst>
            </c:dLbl>
            <c:dLbl>
              <c:idx val="3"/>
              <c:layout>
                <c:manualLayout>
                  <c:x val="1.9076304316021362E-3"/>
                  <c:y val="4.6657966976446173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E6D9-44F3-BC8A-D1040AFB2758}"/>
                </c:ext>
              </c:extLst>
            </c:dLbl>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'time_prd combo'!$B$11:$B$14</c:f>
              <c:strCache>
                <c:ptCount val="4"/>
                <c:pt idx="0">
                  <c:v>Afternoon</c:v>
                </c:pt>
                <c:pt idx="1">
                  <c:v>Evening</c:v>
                </c:pt>
                <c:pt idx="2">
                  <c:v>Morning</c:v>
                </c:pt>
                <c:pt idx="3">
                  <c:v>Night</c:v>
                </c:pt>
              </c:strCache>
            </c:strRef>
          </c:cat>
          <c:val>
            <c:numRef>
              <c:f>'time_prd combo'!$C$11:$C$14</c:f>
              <c:numCache>
                <c:formatCode>General</c:formatCode>
                <c:ptCount val="4"/>
                <c:pt idx="0">
                  <c:v>2490</c:v>
                </c:pt>
                <c:pt idx="1">
                  <c:v>944</c:v>
                </c:pt>
                <c:pt idx="2">
                  <c:v>967</c:v>
                </c:pt>
                <c:pt idx="3">
                  <c:v>520</c:v>
                </c:pt>
              </c:numCache>
            </c:numRef>
          </c:val>
          <c:extLst>
            <c:ext xmlns:c16="http://schemas.microsoft.com/office/drawing/2014/chart" uri="{C3380CC4-5D6E-409C-BE32-E72D297353CC}">
              <c16:uniqueId val="{00000000-7F64-498C-A66C-7A6F524382D1}"/>
            </c:ext>
          </c:extLst>
        </c:ser>
        <c:dLbls>
          <c:showLegendKey val="0"/>
          <c:showVal val="1"/>
          <c:showCatName val="0"/>
          <c:showSerName val="0"/>
          <c:showPercent val="0"/>
          <c:showBubbleSize val="0"/>
        </c:dLbls>
        <c:gapWidth val="219"/>
        <c:axId val="488189536"/>
        <c:axId val="488188576"/>
      </c:barChart>
      <c:lineChart>
        <c:grouping val="standard"/>
        <c:varyColors val="0"/>
        <c:ser>
          <c:idx val="1"/>
          <c:order val="1"/>
          <c:tx>
            <c:strRef>
              <c:f>'time_prd combo'!$D$10</c:f>
              <c:strCache>
                <c:ptCount val="1"/>
                <c:pt idx="0">
                  <c:v>Sum of reg</c:v>
                </c:pt>
              </c:strCache>
            </c:strRef>
          </c:tx>
          <c:spPr>
            <a:ln w="28575" cap="rnd">
              <a:solidFill>
                <a:schemeClr val="accent2"/>
              </a:solidFill>
              <a:round/>
            </a:ln>
            <a:effectLst/>
          </c:spPr>
          <c:marker>
            <c:symbol val="none"/>
          </c:marker>
          <c:dPt>
            <c:idx val="3"/>
            <c:marker>
              <c:symbol val="none"/>
            </c:marker>
            <c:bubble3D val="0"/>
            <c:spPr>
              <a:ln w="28575" cap="rnd">
                <a:solidFill>
                  <a:schemeClr val="accent2"/>
                </a:solidFill>
                <a:round/>
              </a:ln>
              <a:effectLst/>
            </c:spPr>
            <c:extLst>
              <c:ext xmlns:c16="http://schemas.microsoft.com/office/drawing/2014/chart" uri="{C3380CC4-5D6E-409C-BE32-E72D297353CC}">
                <c16:uniqueId val="{00000002-7F64-498C-A66C-7A6F524382D1}"/>
              </c:ext>
            </c:extLst>
          </c:dPt>
          <c:dLbls>
            <c:dLbl>
              <c:idx val="3"/>
              <c:layout>
                <c:manualLayout>
                  <c:x val="-3.9759073786844679E-2"/>
                  <c:y val="4.374643636000258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7F64-498C-A66C-7A6F524382D1}"/>
                </c:ext>
              </c:extLst>
            </c:dLbl>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'time_prd combo'!$B$11:$B$14</c:f>
              <c:strCache>
                <c:ptCount val="4"/>
                <c:pt idx="0">
                  <c:v>Afternoon</c:v>
                </c:pt>
                <c:pt idx="1">
                  <c:v>Evening</c:v>
                </c:pt>
                <c:pt idx="2">
                  <c:v>Morning</c:v>
                </c:pt>
                <c:pt idx="3">
                  <c:v>Night</c:v>
                </c:pt>
              </c:strCache>
            </c:strRef>
          </c:cat>
          <c:val>
            <c:numRef>
              <c:f>'time_prd combo'!$D$11:$D$14</c:f>
              <c:numCache>
                <c:formatCode>General</c:formatCode>
                <c:ptCount val="4"/>
                <c:pt idx="0">
                  <c:v>14649</c:v>
                </c:pt>
                <c:pt idx="1">
                  <c:v>16825</c:v>
                </c:pt>
                <c:pt idx="2">
                  <c:v>16001</c:v>
                </c:pt>
                <c:pt idx="3">
                  <c:v>5908</c:v>
                </c:pt>
              </c:numCache>
            </c:numRef>
          </c:val>
          <c:smooth val="0"/>
          <c:extLst>
            <c:ext xmlns:c16="http://schemas.microsoft.com/office/drawing/2014/chart" uri="{C3380CC4-5D6E-409C-BE32-E72D297353CC}">
              <c16:uniqueId val="{00000003-7F64-498C-A66C-7A6F524382D1}"/>
            </c:ext>
          </c:extLst>
        </c:ser>
        <c:dLbls>
          <c:showLegendKey val="0"/>
          <c:showVal val="1"/>
          <c:showCatName val="0"/>
          <c:showSerName val="0"/>
          <c:showPercent val="0"/>
          <c:showBubbleSize val="0"/>
        </c:dLbls>
        <c:marker val="1"/>
        <c:smooth val="0"/>
        <c:axId val="488154016"/>
        <c:axId val="488131456"/>
      </c:lineChart>
      <c:catAx>
        <c:axId val="4881895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n-US"/>
          </a:p>
        </c:txPr>
        <c:crossAx val="488188576"/>
        <c:crosses val="autoZero"/>
        <c:auto val="1"/>
        <c:lblAlgn val="ctr"/>
        <c:lblOffset val="100"/>
        <c:noMultiLvlLbl val="0"/>
      </c:catAx>
      <c:valAx>
        <c:axId val="488188576"/>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488189536"/>
        <c:crosses val="autoZero"/>
        <c:crossBetween val="between"/>
      </c:valAx>
      <c:valAx>
        <c:axId val="488131456"/>
        <c:scaling>
          <c:orientation val="minMax"/>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488154016"/>
        <c:crosses val="max"/>
        <c:crossBetween val="between"/>
      </c:valAx>
      <c:catAx>
        <c:axId val="488154016"/>
        <c:scaling>
          <c:orientation val="minMax"/>
        </c:scaling>
        <c:delete val="1"/>
        <c:axPos val="b"/>
        <c:numFmt formatCode="General" sourceLinked="1"/>
        <c:majorTickMark val="out"/>
        <c:minorTickMark val="none"/>
        <c:tickLblPos val="nextTo"/>
        <c:crossAx val="488131456"/>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'funnel of users'!$C$15:$C$17</cx:f>
        <cx:lvl ptCount="3">
          <cx:pt idx="0">Total Users</cx:pt>
          <cx:pt idx="1">Registered Users</cx:pt>
          <cx:pt idx="2">Casual Users</cx:pt>
        </cx:lvl>
      </cx:strDim>
      <cx:numDim type="val">
        <cx:f>'funnel of users'!$D$15:$D$17</cx:f>
        <cx:lvl ptCount="3" formatCode="General">
          <cx:pt idx="0">58304</cx:pt>
          <cx:pt idx="1">53383</cx:pt>
          <cx:pt idx="2">4931</cx:pt>
        </cx:lvl>
      </cx:numDim>
    </cx:data>
  </cx:chartData>
  <cx:chart>
    <cx:plotArea>
      <cx:plotAreaRegion>
        <cx:series layoutId="funnel" uniqueId="{3B92ADC7-FD2C-412C-B7A7-905D1AFA300E}">
          <cx:tx>
            <cx:txData>
              <cx:f>'funnel of users'!$D$14</cx:f>
              <cx:v>Value</cx:v>
            </cx:txData>
          </cx:tx>
          <cx:spPr>
            <a:ln>
              <a:noFill/>
            </a:ln>
          </cx:spPr>
          <cx:dataLabels>
            <cx:txPr>
              <a:bodyPr spcFirstLastPara="1" vertOverflow="ellipsis" horzOverflow="overflow" wrap="square" lIns="0" tIns="0" rIns="0" bIns="0" anchor="ctr" anchorCtr="1"/>
              <a:lstStyle/>
              <a:p>
                <a:pPr algn="ctr" rtl="0">
                  <a:defRPr sz="1200">
                    <a:solidFill>
                      <a:schemeClr val="bg2"/>
                    </a:solidFill>
                  </a:defRPr>
                </a:pPr>
                <a:endParaRPr lang="en-US" sz="1200" b="0" i="0" u="none" strike="noStrike" baseline="0">
                  <a:solidFill>
                    <a:schemeClr val="bg2"/>
                  </a:solidFill>
                  <a:latin typeface="Aptos" panose="02110004020202020204"/>
                </a:endParaRPr>
              </a:p>
            </cx:txPr>
            <cx:visibility seriesName="0" categoryName="0" value="1"/>
          </cx:dataLabels>
          <cx:dataId val="0"/>
        </cx:series>
      </cx:plotAreaRegion>
      <cx:axis id="0">
        <cx:catScaling gapWidth="0.0599999987"/>
        <cx:tickLabels/>
        <cx:spPr>
          <a:ln>
            <a:solidFill>
              <a:srgbClr val="92D050"/>
            </a:solidFill>
          </a:ln>
        </cx:spPr>
        <cx:txPr>
          <a:bodyPr spcFirstLastPara="1" vertOverflow="ellipsis" horzOverflow="overflow" wrap="square" lIns="0" tIns="0" rIns="0" bIns="0" anchor="ctr" anchorCtr="1"/>
          <a:lstStyle/>
          <a:p>
            <a:pPr algn="ctr" rtl="0">
              <a:defRPr sz="1400">
                <a:ln w="9525" cap="flat" cmpd="sng">
                  <a:noFill/>
                </a:ln>
                <a:solidFill>
                  <a:schemeClr val="tx1">
                    <a:alpha val="88000"/>
                  </a:schemeClr>
                </a:solidFill>
                <a:effectLst>
                  <a:outerShdw blurRad="50800" dist="736600" dir="5400000" sx="1000" sy="1000" algn="ctr" rotWithShape="0">
                    <a:srgbClr val="000000"/>
                  </a:outerShdw>
                </a:effectLst>
              </a:defRPr>
            </a:pPr>
            <a:endParaRPr lang="en-US" sz="1400" b="0" i="0" u="none" strike="noStrike" baseline="0">
              <a:ln w="9525" cap="flat" cmpd="sng">
                <a:noFill/>
              </a:ln>
              <a:solidFill>
                <a:schemeClr val="tx1">
                  <a:alpha val="88000"/>
                </a:schemeClr>
              </a:solidFill>
              <a:effectLst>
                <a:outerShdw blurRad="50800" dist="736600" dir="5400000" sx="1000" sy="1000" algn="ctr" rotWithShape="0">
                  <a:srgbClr val="000000"/>
                </a:outerShdw>
              </a:effectLst>
              <a:latin typeface="Arial"/>
              <a:cs typeface="Arial"/>
            </a:endParaRPr>
          </a:p>
        </cx:txPr>
      </cx:axis>
    </cx:plotArea>
    <cx:legend pos="t" align="ctr" overlay="0">
      <cx:txPr>
        <a:bodyPr spcFirstLastPara="1" vertOverflow="ellipsis" horzOverflow="overflow" wrap="square" lIns="0" tIns="0" rIns="0" bIns="0" anchor="ctr" anchorCtr="1"/>
        <a:lstStyle/>
        <a:p>
          <a:pPr algn="ctr" rtl="0">
            <a:defRPr sz="1400">
              <a:solidFill>
                <a:schemeClr val="tx1"/>
              </a:solidFill>
            </a:defRPr>
          </a:pPr>
          <a:endParaRPr lang="en-US" sz="1400" b="0" i="0" u="none" strike="noStrike" baseline="0">
            <a:solidFill>
              <a:schemeClr val="tx1"/>
            </a:solidFill>
            <a:latin typeface="Aptos" panose="02110004020202020204"/>
          </a:endParaRPr>
        </a:p>
      </cx:txPr>
    </cx:legend>
  </cx:chart>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3">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bg1"/>
    </cs:fontRef>
    <cs:spPr>
      <a:solidFill>
        <a:schemeClr val="tx1">
          <a:lumMod val="50000"/>
          <a:lumOff val="50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cs:spPr>
  </cs:dataPoint>
  <cs:dataPoint3D>
    <cs:lnRef idx="0"/>
    <cs:fillRef idx="0">
      <cs:styleClr val="auto"/>
    </cs:fillRef>
    <cs:effectRef idx="0"/>
    <cs:fontRef idx="minor">
      <a:schemeClr val="tx1"/>
    </cs:fontRef>
    <cs:spPr>
      <a:gradFill>
        <a:gsLst>
          <a:gs pos="100000">
            <a:schemeClr val="phClr">
              <a:alpha val="0"/>
            </a:schemeClr>
          </a:gs>
          <a:gs pos="50000">
            <a:schemeClr val="phClr"/>
          </a:gs>
        </a:gsLst>
        <a:lin ang="5400000" scaled="0"/>
      </a:gradFill>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tx1"/>
    </cs:fontRef>
    <cs:spPr>
      <a:ln w="9525" cap="flat" cmpd="sng" algn="ctr">
        <a:solidFill>
          <a:schemeClr val="tx1">
            <a:lumMod val="5000"/>
            <a:lumOff val="9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8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0">
  <cs:axisTitle>
    <cs:lnRef idx="0"/>
    <cs:fillRef idx="0"/>
    <cs:effectRef idx="0"/>
    <cs:fontRef idx="minor">
      <a:schemeClr val="tx2"/>
    </cs:fontRef>
    <cs:defRPr sz="900"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900" kern="1200"/>
  </cs:chartArea>
  <cs:dataLabel>
    <cs:lnRef idx="0"/>
    <cs:fillRef idx="0"/>
    <cs:effectRef idx="0"/>
    <cs:fontRef idx="minor">
      <a:schemeClr val="tx2"/>
    </cs:fontRef>
    <cs:defRPr sz="900"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900"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900"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1600"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900"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900" kern="1200"/>
  </cs:valueAxis>
  <cs:wall>
    <cs:lnRef idx="0"/>
    <cs:fillRef idx="0"/>
    <cs:effectRef idx="0"/>
    <cs:fontRef idx="minor">
      <a:schemeClr val="tx2"/>
    </cs:fontRef>
  </cs:wall>
</cs:chartStyle>
</file>

<file path=ppt/charts/style4.xml><?xml version="1.0" encoding="utf-8"?>
<cs:chartStyle xmlns:cs="http://schemas.microsoft.com/office/drawing/2012/chartStyle" xmlns:a="http://schemas.openxmlformats.org/drawingml/2006/main" id="258">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lt1"/>
    </cs:fontRef>
    <cs:defRPr sz="900" b="1"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scene3d>
        <a:camera prst="orthographicFront"/>
        <a:lightRig rig="brightRoom" dir="t"/>
      </a:scene3d>
      <a:sp3d prstMaterial="flat">
        <a:bevelT w="50800" h="101600" prst="angle"/>
        <a:contourClr>
          <a:srgbClr val="000000"/>
        </a:contourClr>
      </a:sp3d>
    </cs:spPr>
  </cs:dataPoint>
  <cs:dataPoint3D>
    <cs:lnRef idx="0"/>
    <cs:fillRef idx="0">
      <cs:styleClr val="auto"/>
    </cs:fillRef>
    <cs:effectRef idx="0"/>
    <cs:fontRef idx="minor">
      <a:schemeClr val="tx1"/>
    </cs:fontRef>
    <cs:spPr>
      <a:solidFill>
        <a:schemeClr val="phClr"/>
      </a:solidFill>
      <a:ln w="1905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1" i="0" kern="1200" cap="all" spc="50"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31">
  <cs:axisTitle>
    <cs:lnRef idx="0"/>
    <cs:fillRef idx="0"/>
    <cs:effectRef idx="0"/>
    <cs:fontRef idx="minor">
      <a:schemeClr val="tx2"/>
    </cs:fontRef>
    <cs:defRPr sz="900"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900" kern="1200"/>
  </cs:chartArea>
  <cs:dataLabel>
    <cs:lnRef idx="0"/>
    <cs:fillRef idx="0"/>
    <cs:effectRef idx="0"/>
    <cs:fontRef idx="minor">
      <a:schemeClr val="tx2"/>
    </cs:fontRef>
    <cs:defRPr sz="900"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900"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900"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1600"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900"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900" kern="1200"/>
  </cs:valueAxis>
  <cs:wall>
    <cs:lnRef idx="0"/>
    <cs:fillRef idx="0"/>
    <cs:effectRef idx="0"/>
    <cs:fontRef idx="minor">
      <a:schemeClr val="tx2"/>
    </cs:fontRef>
  </cs:wall>
</cs:chartStyle>
</file>

<file path=ppt/charts/style7.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419">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83556D1-F380-4F2C-BCDE-62047041699A}" type="datetimeFigureOut">
              <a:rPr lang="en-IN" smtClean="0"/>
              <a:t>19-01-26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A66190D-30C5-412E-9FC7-B15E1930D05C}" type="slidenum">
              <a:rPr lang="en-IN" smtClean="0"/>
              <a:t>‹#›</a:t>
            </a:fld>
            <a:endParaRPr lang="en-IN"/>
          </a:p>
        </p:txBody>
      </p:sp>
    </p:spTree>
    <p:extLst>
      <p:ext uri="{BB962C8B-B14F-4D97-AF65-F5344CB8AC3E}">
        <p14:creationId xmlns:p14="http://schemas.microsoft.com/office/powerpoint/2010/main" val="7856081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83556D1-F380-4F2C-BCDE-62047041699A}" type="datetimeFigureOut">
              <a:rPr lang="en-IN" smtClean="0"/>
              <a:t>19-01-26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A66190D-30C5-412E-9FC7-B15E1930D05C}" type="slidenum">
              <a:rPr lang="en-IN" smtClean="0"/>
              <a:t>‹#›</a:t>
            </a:fld>
            <a:endParaRPr lang="en-IN"/>
          </a:p>
        </p:txBody>
      </p:sp>
    </p:spTree>
    <p:extLst>
      <p:ext uri="{BB962C8B-B14F-4D97-AF65-F5344CB8AC3E}">
        <p14:creationId xmlns:p14="http://schemas.microsoft.com/office/powerpoint/2010/main" val="3775282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83556D1-F380-4F2C-BCDE-62047041699A}" type="datetimeFigureOut">
              <a:rPr lang="en-IN" smtClean="0"/>
              <a:t>19-01-26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A66190D-30C5-412E-9FC7-B15E1930D05C}" type="slidenum">
              <a:rPr lang="en-IN" smtClean="0"/>
              <a:t>‹#›</a:t>
            </a:fld>
            <a:endParaRPr lang="en-IN"/>
          </a:p>
        </p:txBody>
      </p:sp>
    </p:spTree>
    <p:extLst>
      <p:ext uri="{BB962C8B-B14F-4D97-AF65-F5344CB8AC3E}">
        <p14:creationId xmlns:p14="http://schemas.microsoft.com/office/powerpoint/2010/main" val="866886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83556D1-F380-4F2C-BCDE-62047041699A}" type="datetimeFigureOut">
              <a:rPr lang="en-IN" smtClean="0"/>
              <a:t>19-01-26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A66190D-30C5-412E-9FC7-B15E1930D05C}" type="slidenum">
              <a:rPr lang="en-IN" smtClean="0"/>
              <a:t>‹#›</a:t>
            </a:fld>
            <a:endParaRPr lang="en-IN"/>
          </a:p>
        </p:txBody>
      </p:sp>
    </p:spTree>
    <p:extLst>
      <p:ext uri="{BB962C8B-B14F-4D97-AF65-F5344CB8AC3E}">
        <p14:creationId xmlns:p14="http://schemas.microsoft.com/office/powerpoint/2010/main" val="13342990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83556D1-F380-4F2C-BCDE-62047041699A}" type="datetimeFigureOut">
              <a:rPr lang="en-IN" smtClean="0"/>
              <a:t>19-01-26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A66190D-30C5-412E-9FC7-B15E1930D05C}" type="slidenum">
              <a:rPr lang="en-IN" smtClean="0"/>
              <a:t>‹#›</a:t>
            </a:fld>
            <a:endParaRPr lang="en-IN"/>
          </a:p>
        </p:txBody>
      </p:sp>
    </p:spTree>
    <p:extLst>
      <p:ext uri="{BB962C8B-B14F-4D97-AF65-F5344CB8AC3E}">
        <p14:creationId xmlns:p14="http://schemas.microsoft.com/office/powerpoint/2010/main" val="8192875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83556D1-F380-4F2C-BCDE-62047041699A}" type="datetimeFigureOut">
              <a:rPr lang="en-IN" smtClean="0"/>
              <a:t>19-01-26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A66190D-30C5-412E-9FC7-B15E1930D05C}" type="slidenum">
              <a:rPr lang="en-IN" smtClean="0"/>
              <a:t>‹#›</a:t>
            </a:fld>
            <a:endParaRPr lang="en-IN"/>
          </a:p>
        </p:txBody>
      </p:sp>
    </p:spTree>
    <p:extLst>
      <p:ext uri="{BB962C8B-B14F-4D97-AF65-F5344CB8AC3E}">
        <p14:creationId xmlns:p14="http://schemas.microsoft.com/office/powerpoint/2010/main" val="5096323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83556D1-F380-4F2C-BCDE-62047041699A}" type="datetimeFigureOut">
              <a:rPr lang="en-IN" smtClean="0"/>
              <a:t>19-01-26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A66190D-30C5-412E-9FC7-B15E1930D05C}" type="slidenum">
              <a:rPr lang="en-IN" smtClean="0"/>
              <a:t>‹#›</a:t>
            </a:fld>
            <a:endParaRPr lang="en-IN"/>
          </a:p>
        </p:txBody>
      </p:sp>
    </p:spTree>
    <p:extLst>
      <p:ext uri="{BB962C8B-B14F-4D97-AF65-F5344CB8AC3E}">
        <p14:creationId xmlns:p14="http://schemas.microsoft.com/office/powerpoint/2010/main" val="37280741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83556D1-F380-4F2C-BCDE-62047041699A}" type="datetimeFigureOut">
              <a:rPr lang="en-IN" smtClean="0"/>
              <a:t>19-01-26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A66190D-30C5-412E-9FC7-B15E1930D05C}" type="slidenum">
              <a:rPr lang="en-IN" smtClean="0"/>
              <a:t>‹#›</a:t>
            </a:fld>
            <a:endParaRPr lang="en-IN"/>
          </a:p>
        </p:txBody>
      </p:sp>
    </p:spTree>
    <p:extLst>
      <p:ext uri="{BB962C8B-B14F-4D97-AF65-F5344CB8AC3E}">
        <p14:creationId xmlns:p14="http://schemas.microsoft.com/office/powerpoint/2010/main" val="13626673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83556D1-F380-4F2C-BCDE-62047041699A}" type="datetimeFigureOut">
              <a:rPr lang="en-IN" smtClean="0"/>
              <a:t>19-01-26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A66190D-30C5-412E-9FC7-B15E1930D05C}" type="slidenum">
              <a:rPr lang="en-IN" smtClean="0"/>
              <a:t>‹#›</a:t>
            </a:fld>
            <a:endParaRPr lang="en-IN"/>
          </a:p>
        </p:txBody>
      </p:sp>
    </p:spTree>
    <p:extLst>
      <p:ext uri="{BB962C8B-B14F-4D97-AF65-F5344CB8AC3E}">
        <p14:creationId xmlns:p14="http://schemas.microsoft.com/office/powerpoint/2010/main" val="28254308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83556D1-F380-4F2C-BCDE-62047041699A}" type="datetimeFigureOut">
              <a:rPr lang="en-IN" smtClean="0"/>
              <a:t>19-01-26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A66190D-30C5-412E-9FC7-B15E1930D05C}" type="slidenum">
              <a:rPr lang="en-IN" smtClean="0"/>
              <a:t>‹#›</a:t>
            </a:fld>
            <a:endParaRPr lang="en-IN"/>
          </a:p>
        </p:txBody>
      </p:sp>
    </p:spTree>
    <p:extLst>
      <p:ext uri="{BB962C8B-B14F-4D97-AF65-F5344CB8AC3E}">
        <p14:creationId xmlns:p14="http://schemas.microsoft.com/office/powerpoint/2010/main" val="3994467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83556D1-F380-4F2C-BCDE-62047041699A}" type="datetimeFigureOut">
              <a:rPr lang="en-IN" smtClean="0"/>
              <a:t>19-01-26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A66190D-30C5-412E-9FC7-B15E1930D05C}" type="slidenum">
              <a:rPr lang="en-IN" smtClean="0"/>
              <a:t>‹#›</a:t>
            </a:fld>
            <a:endParaRPr lang="en-IN"/>
          </a:p>
        </p:txBody>
      </p:sp>
    </p:spTree>
    <p:extLst>
      <p:ext uri="{BB962C8B-B14F-4D97-AF65-F5344CB8AC3E}">
        <p14:creationId xmlns:p14="http://schemas.microsoft.com/office/powerpoint/2010/main" val="39151906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83556D1-F380-4F2C-BCDE-62047041699A}" type="datetimeFigureOut">
              <a:rPr lang="en-IN" smtClean="0"/>
              <a:t>19-01-26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A66190D-30C5-412E-9FC7-B15E1930D05C}" type="slidenum">
              <a:rPr lang="en-IN" smtClean="0"/>
              <a:t>‹#›</a:t>
            </a:fld>
            <a:endParaRPr lang="en-IN"/>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8114588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83556D1-F380-4F2C-BCDE-62047041699A}" type="datetimeFigureOut">
              <a:rPr lang="en-IN" smtClean="0"/>
              <a:t>19-01-26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A66190D-30C5-412E-9FC7-B15E1930D05C}" type="slidenum">
              <a:rPr lang="en-IN" smtClean="0"/>
              <a:t>‹#›</a:t>
            </a:fld>
            <a:endParaRPr lang="en-IN"/>
          </a:p>
        </p:txBody>
      </p:sp>
    </p:spTree>
    <p:extLst>
      <p:ext uri="{BB962C8B-B14F-4D97-AF65-F5344CB8AC3E}">
        <p14:creationId xmlns:p14="http://schemas.microsoft.com/office/powerpoint/2010/main" val="13788307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783556D1-F380-4F2C-BCDE-62047041699A}" type="datetimeFigureOut">
              <a:rPr lang="en-IN" smtClean="0"/>
              <a:t>19-01-26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A66190D-30C5-412E-9FC7-B15E1930D05C}" type="slidenum">
              <a:rPr lang="en-IN" smtClean="0"/>
              <a:t>‹#›</a:t>
            </a:fld>
            <a:endParaRPr lang="en-IN"/>
          </a:p>
        </p:txBody>
      </p:sp>
    </p:spTree>
    <p:extLst>
      <p:ext uri="{BB962C8B-B14F-4D97-AF65-F5344CB8AC3E}">
        <p14:creationId xmlns:p14="http://schemas.microsoft.com/office/powerpoint/2010/main" val="22528178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783556D1-F380-4F2C-BCDE-62047041699A}" type="datetimeFigureOut">
              <a:rPr lang="en-IN" smtClean="0"/>
              <a:t>19-01-26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A66190D-30C5-412E-9FC7-B15E1930D05C}" type="slidenum">
              <a:rPr lang="en-IN" smtClean="0"/>
              <a:t>‹#›</a:t>
            </a:fld>
            <a:endParaRPr lang="en-IN"/>
          </a:p>
        </p:txBody>
      </p:sp>
    </p:spTree>
    <p:extLst>
      <p:ext uri="{BB962C8B-B14F-4D97-AF65-F5344CB8AC3E}">
        <p14:creationId xmlns:p14="http://schemas.microsoft.com/office/powerpoint/2010/main" val="18454072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83556D1-F380-4F2C-BCDE-62047041699A}" type="datetimeFigureOut">
              <a:rPr lang="en-IN" smtClean="0"/>
              <a:t>19-01-26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A66190D-30C5-412E-9FC7-B15E1930D05C}" type="slidenum">
              <a:rPr lang="en-IN" smtClean="0"/>
              <a:t>‹#›</a:t>
            </a:fld>
            <a:endParaRPr lang="en-IN"/>
          </a:p>
        </p:txBody>
      </p:sp>
    </p:spTree>
    <p:extLst>
      <p:ext uri="{BB962C8B-B14F-4D97-AF65-F5344CB8AC3E}">
        <p14:creationId xmlns:p14="http://schemas.microsoft.com/office/powerpoint/2010/main" val="13990116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83556D1-F380-4F2C-BCDE-62047041699A}" type="datetimeFigureOut">
              <a:rPr lang="en-IN" smtClean="0"/>
              <a:t>19-01-26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A66190D-30C5-412E-9FC7-B15E1930D05C}" type="slidenum">
              <a:rPr lang="en-IN" smtClean="0"/>
              <a:t>‹#›</a:t>
            </a:fld>
            <a:endParaRPr lang="en-IN"/>
          </a:p>
        </p:txBody>
      </p:sp>
    </p:spTree>
    <p:extLst>
      <p:ext uri="{BB962C8B-B14F-4D97-AF65-F5344CB8AC3E}">
        <p14:creationId xmlns:p14="http://schemas.microsoft.com/office/powerpoint/2010/main" val="36467089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783556D1-F380-4F2C-BCDE-62047041699A}" type="datetimeFigureOut">
              <a:rPr lang="en-IN" smtClean="0"/>
              <a:t>19-01-26</a:t>
            </a:fld>
            <a:endParaRPr lang="en-IN"/>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CA66190D-30C5-412E-9FC7-B15E1930D05C}" type="slidenum">
              <a:rPr lang="en-IN" smtClean="0"/>
              <a:t>‹#›</a:t>
            </a:fld>
            <a:endParaRPr lang="en-IN"/>
          </a:p>
        </p:txBody>
      </p:sp>
    </p:spTree>
    <p:extLst>
      <p:ext uri="{BB962C8B-B14F-4D97-AF65-F5344CB8AC3E}">
        <p14:creationId xmlns:p14="http://schemas.microsoft.com/office/powerpoint/2010/main" val="1379725686"/>
      </p:ext>
    </p:extLst>
  </p:cSld>
  <p:clrMap bg1="dk1" tx1="lt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microsoft.com/office/2014/relationships/chartEx" Target="../charts/chartEx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4E84F8E2-CEE4-BB1B-72EA-A2C8893A0434}"/>
              </a:ext>
            </a:extLst>
          </p:cNvPr>
          <p:cNvSpPr>
            <a:spLocks noGrp="1"/>
          </p:cNvSpPr>
          <p:nvPr>
            <p:ph type="body" sz="half" idx="2"/>
          </p:nvPr>
        </p:nvSpPr>
        <p:spPr>
          <a:xfrm>
            <a:off x="839788" y="599607"/>
            <a:ext cx="10387845" cy="5801194"/>
          </a:xfrm>
        </p:spPr>
        <p:txBody>
          <a:bodyPr/>
          <a:lstStyle/>
          <a:p>
            <a:pPr algn="ctr"/>
            <a:endParaRPr lang="en-US" dirty="0"/>
          </a:p>
          <a:p>
            <a:pPr algn="ctr"/>
            <a:r>
              <a:rPr lang="en-US" sz="4000" dirty="0"/>
              <a:t>  NextHikes IT Solutions </a:t>
            </a:r>
          </a:p>
          <a:p>
            <a:pPr algn="ctr"/>
            <a:r>
              <a:rPr lang="en-US" sz="4000" dirty="0"/>
              <a:t> Bike Sharing Demand Analysis Project Using Excel </a:t>
            </a:r>
          </a:p>
          <a:p>
            <a:pPr algn="ctr"/>
            <a:endParaRPr lang="en-US" sz="4000" dirty="0"/>
          </a:p>
          <a:p>
            <a:pPr algn="ctr"/>
            <a:r>
              <a:rPr lang="en-US" sz="4000" dirty="0"/>
              <a:t>By Mohit Singh</a:t>
            </a:r>
            <a:endParaRPr lang="en-IN" sz="4000" dirty="0"/>
          </a:p>
        </p:txBody>
      </p:sp>
    </p:spTree>
    <p:extLst>
      <p:ext uri="{BB962C8B-B14F-4D97-AF65-F5344CB8AC3E}">
        <p14:creationId xmlns:p14="http://schemas.microsoft.com/office/powerpoint/2010/main" val="6443100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30637-ED0B-051B-F3EF-A915FCFBA1F1}"/>
              </a:ext>
            </a:extLst>
          </p:cNvPr>
          <p:cNvSpPr>
            <a:spLocks noGrp="1"/>
          </p:cNvSpPr>
          <p:nvPr>
            <p:ph type="title"/>
          </p:nvPr>
        </p:nvSpPr>
        <p:spPr>
          <a:xfrm>
            <a:off x="4722241" y="264963"/>
            <a:ext cx="2443058" cy="397239"/>
          </a:xfrm>
        </p:spPr>
        <p:txBody>
          <a:bodyPr>
            <a:normAutofit fontScale="90000"/>
          </a:bodyPr>
          <a:lstStyle/>
          <a:p>
            <a:r>
              <a:rPr lang="en-IN" dirty="0"/>
              <a:t>Objectives</a:t>
            </a:r>
          </a:p>
        </p:txBody>
      </p:sp>
      <p:sp>
        <p:nvSpPr>
          <p:cNvPr id="5" name="Rectangle 1">
            <a:extLst>
              <a:ext uri="{FF2B5EF4-FFF2-40B4-BE49-F238E27FC236}">
                <a16:creationId xmlns:a16="http://schemas.microsoft.com/office/drawing/2014/main" id="{700607E5-541A-B361-0C1B-109710213ED5}"/>
              </a:ext>
            </a:extLst>
          </p:cNvPr>
          <p:cNvSpPr>
            <a:spLocks noGrp="1" noChangeArrowheads="1"/>
          </p:cNvSpPr>
          <p:nvPr>
            <p:ph type="body" sz="half" idx="2"/>
          </p:nvPr>
        </p:nvSpPr>
        <p:spPr bwMode="auto">
          <a:xfrm>
            <a:off x="489288" y="843677"/>
            <a:ext cx="11213423" cy="5170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500" b="1" i="0" u="none" strike="noStrike" cap="none" normalizeH="0" baseline="0" dirty="0">
                <a:ln>
                  <a:noFill/>
                </a:ln>
                <a:solidFill>
                  <a:schemeClr val="tx1"/>
                </a:solidFill>
                <a:effectLst/>
              </a:rPr>
              <a:t>To analyze bike rental data to understand user demand patterns across different hours, days, and seasons.</a:t>
            </a: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sz="1500" b="1" i="0" u="none" strike="noStrike" cap="none" normalizeH="0" baseline="0" dirty="0">
              <a:ln>
                <a:noFill/>
              </a:ln>
              <a:solidFill>
                <a:schemeClr val="tx1"/>
              </a:solidFill>
              <a:effectLst/>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500" b="1" i="0" u="none" strike="noStrike" cap="none" normalizeH="0" baseline="0" dirty="0">
                <a:ln>
                  <a:noFill/>
                </a:ln>
                <a:solidFill>
                  <a:schemeClr val="tx1"/>
                </a:solidFill>
                <a:effectLst/>
              </a:rPr>
              <a:t>To study the impact of weather conditions, temperature, and time periods on bike rental usage.</a:t>
            </a: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sz="1500" b="1" i="0" u="none" strike="noStrike" cap="none" normalizeH="0" baseline="0" dirty="0">
              <a:ln>
                <a:noFill/>
              </a:ln>
              <a:solidFill>
                <a:schemeClr val="tx1"/>
              </a:solidFill>
              <a:effectLst/>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500" b="1" i="0" u="none" strike="noStrike" cap="none" normalizeH="0" baseline="0" dirty="0">
                <a:ln>
                  <a:noFill/>
                </a:ln>
                <a:solidFill>
                  <a:schemeClr val="tx1"/>
                </a:solidFill>
                <a:effectLst/>
              </a:rPr>
              <a:t>To clean and preprocess raw data by removing duplicates, handling missing values, correcting data types, and filtering invalid records.</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500" b="1" i="0" u="none" strike="noStrike" cap="none" normalizeH="0" baseline="0" dirty="0">
                <a:ln>
                  <a:noFill/>
                </a:ln>
                <a:solidFill>
                  <a:schemeClr val="tx1"/>
                </a:solidFill>
                <a:effectLst/>
              </a:rPr>
              <a:t>To merge multiple datasets into a single master dataset for consistent and accurate analysis.</a:t>
            </a: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sz="1500" b="1" i="0" u="none" strike="noStrike" cap="none" normalizeH="0" baseline="0" dirty="0">
              <a:ln>
                <a:noFill/>
              </a:ln>
              <a:solidFill>
                <a:schemeClr val="tx1"/>
              </a:solidFill>
              <a:effectLst/>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500" b="1" i="0" u="none" strike="noStrike" cap="none" normalizeH="0" baseline="0" dirty="0">
                <a:ln>
                  <a:noFill/>
                </a:ln>
                <a:solidFill>
                  <a:schemeClr val="tx1"/>
                </a:solidFill>
                <a:effectLst/>
              </a:rPr>
              <a:t>To create derived features such as weekday names, week type (weekday/weekend), time periods, weather categories, and temperature bands.</a:t>
            </a: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sz="1500" b="1" i="0" u="none" strike="noStrike" cap="none" normalizeH="0" baseline="0" dirty="0">
              <a:ln>
                <a:noFill/>
              </a:ln>
              <a:solidFill>
                <a:schemeClr val="tx1"/>
              </a:solidFill>
              <a:effectLst/>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500" b="1" i="0" u="none" strike="noStrike" cap="none" normalizeH="0" baseline="0" dirty="0">
                <a:ln>
                  <a:noFill/>
                </a:ln>
                <a:solidFill>
                  <a:schemeClr val="tx1"/>
                </a:solidFill>
                <a:effectLst/>
              </a:rPr>
              <a:t>To apply rolling 24-hour mean and rolling standard deviation to analyze demand trends and variability over time.</a:t>
            </a: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sz="1500" b="1" i="0" u="none" strike="noStrike" cap="none" normalizeH="0" baseline="0" dirty="0">
              <a:ln>
                <a:noFill/>
              </a:ln>
              <a:solidFill>
                <a:schemeClr val="tx1"/>
              </a:solidFill>
              <a:effectLst/>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500" b="1" i="0" u="none" strike="noStrike" cap="none" normalizeH="0" baseline="0" dirty="0">
                <a:ln>
                  <a:noFill/>
                </a:ln>
                <a:solidFill>
                  <a:schemeClr val="tx1"/>
                </a:solidFill>
                <a:effectLst/>
              </a:rPr>
              <a:t>To use Z-score analysis to detect unusual rental behavior and identify demand anomalies.</a:t>
            </a: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sz="1500" b="1" i="0" u="none" strike="noStrike" cap="none" normalizeH="0" baseline="0" dirty="0">
              <a:ln>
                <a:noFill/>
              </a:ln>
              <a:solidFill>
                <a:schemeClr val="tx1"/>
              </a:solidFill>
              <a:effectLst/>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500" b="1" i="0" u="none" strike="noStrike" cap="none" normalizeH="0" baseline="0" dirty="0">
                <a:ln>
                  <a:noFill/>
                </a:ln>
                <a:solidFill>
                  <a:schemeClr val="tx1"/>
                </a:solidFill>
                <a:effectLst/>
              </a:rPr>
              <a:t>To summarize data using pivot tables, aggregation, and calculated fields for quick insights.</a:t>
            </a: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sz="1500" b="1" i="0" u="none" strike="noStrike" cap="none" normalizeH="0" baseline="0" dirty="0">
              <a:ln>
                <a:noFill/>
              </a:ln>
              <a:solidFill>
                <a:schemeClr val="tx1"/>
              </a:solidFill>
              <a:effectLst/>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500" b="1" i="0" u="none" strike="noStrike" cap="none" normalizeH="0" baseline="0" dirty="0">
                <a:ln>
                  <a:noFill/>
                </a:ln>
                <a:solidFill>
                  <a:schemeClr val="tx1"/>
                </a:solidFill>
                <a:effectLst/>
              </a:rPr>
              <a:t>To visualize demand patterns using line charts, bar charts, funnel charts, and heatmaps.</a:t>
            </a: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sz="1500" b="1" i="0" u="none" strike="noStrike" cap="none" normalizeH="0" baseline="0" dirty="0">
              <a:ln>
                <a:noFill/>
              </a:ln>
              <a:solidFill>
                <a:schemeClr val="tx1"/>
              </a:solidFill>
              <a:effectLst/>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500" b="1" i="0" u="none" strike="noStrike" cap="none" normalizeH="0" baseline="0" dirty="0">
                <a:ln>
                  <a:noFill/>
                </a:ln>
                <a:solidFill>
                  <a:schemeClr val="tx1"/>
                </a:solidFill>
                <a:effectLst/>
              </a:rPr>
              <a:t>To transform raw data into meaningful insights that support data-driven decision making.</a:t>
            </a: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sz="1500" b="1" i="0" u="none" strike="noStrike" cap="none" normalizeH="0" baseline="0" dirty="0">
              <a:ln>
                <a:noFill/>
              </a:ln>
              <a:solidFill>
                <a:schemeClr val="tx1"/>
              </a:solidFill>
              <a:effectLst/>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500" b="1" i="0" u="none" strike="noStrike" cap="none" normalizeH="0" baseline="0" dirty="0">
                <a:ln>
                  <a:noFill/>
                </a:ln>
                <a:solidFill>
                  <a:schemeClr val="tx1"/>
                </a:solidFill>
                <a:effectLst/>
              </a:rPr>
              <a:t>To help improve operational planning, fleet management, and customer experience through analytical insights</a:t>
            </a:r>
            <a:r>
              <a:rPr kumimoji="0" lang="en-US" altLang="en-US" sz="1500" b="0" i="0" u="none" strike="noStrike" cap="none" normalizeH="0" baseline="0" dirty="0">
                <a:ln>
                  <a:noFill/>
                </a:ln>
                <a:solidFill>
                  <a:schemeClr val="tx1"/>
                </a:solidFill>
                <a:effectLst/>
              </a:rPr>
              <a:t>.</a:t>
            </a:r>
          </a:p>
        </p:txBody>
      </p:sp>
    </p:spTree>
    <p:extLst>
      <p:ext uri="{BB962C8B-B14F-4D97-AF65-F5344CB8AC3E}">
        <p14:creationId xmlns:p14="http://schemas.microsoft.com/office/powerpoint/2010/main" val="3285859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DD2A9D6-AB87-E2B1-8CDD-E37CDB063037}"/>
              </a:ext>
            </a:extLst>
          </p:cNvPr>
          <p:cNvSpPr>
            <a:spLocks noGrp="1"/>
          </p:cNvSpPr>
          <p:nvPr>
            <p:ph type="title"/>
          </p:nvPr>
        </p:nvSpPr>
        <p:spPr>
          <a:xfrm>
            <a:off x="3209059" y="256871"/>
            <a:ext cx="5773882" cy="661916"/>
          </a:xfrm>
        </p:spPr>
        <p:txBody>
          <a:bodyPr>
            <a:noAutofit/>
          </a:bodyPr>
          <a:lstStyle/>
          <a:p>
            <a:pPr algn="ctr"/>
            <a:r>
              <a:rPr lang="en-IN" sz="2400" b="1" dirty="0"/>
              <a:t>Weekday vs Weekend Bike Rental Usage</a:t>
            </a:r>
          </a:p>
        </p:txBody>
      </p:sp>
      <p:graphicFrame>
        <p:nvGraphicFramePr>
          <p:cNvPr id="4" name="Content Placeholder 3">
            <a:extLst>
              <a:ext uri="{FF2B5EF4-FFF2-40B4-BE49-F238E27FC236}">
                <a16:creationId xmlns:a16="http://schemas.microsoft.com/office/drawing/2014/main" id="{0AE196D2-FAB4-68B1-1E43-51F538469643}"/>
              </a:ext>
            </a:extLst>
          </p:cNvPr>
          <p:cNvGraphicFramePr>
            <a:graphicFrameLocks noGrp="1"/>
          </p:cNvGraphicFramePr>
          <p:nvPr>
            <p:ph idx="1"/>
            <p:extLst>
              <p:ext uri="{D42A27DB-BD31-4B8C-83A1-F6EECF244321}">
                <p14:modId xmlns:p14="http://schemas.microsoft.com/office/powerpoint/2010/main" val="4060532802"/>
              </p:ext>
            </p:extLst>
          </p:nvPr>
        </p:nvGraphicFramePr>
        <p:xfrm>
          <a:off x="5999018" y="977257"/>
          <a:ext cx="5773882" cy="5159828"/>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 Placeholder 5">
            <a:extLst>
              <a:ext uri="{FF2B5EF4-FFF2-40B4-BE49-F238E27FC236}">
                <a16:creationId xmlns:a16="http://schemas.microsoft.com/office/drawing/2014/main" id="{67F118B3-4263-9E4A-05F2-D278851A3CE8}"/>
              </a:ext>
            </a:extLst>
          </p:cNvPr>
          <p:cNvSpPr>
            <a:spLocks noGrp="1"/>
          </p:cNvSpPr>
          <p:nvPr>
            <p:ph type="body" sz="half" idx="2"/>
          </p:nvPr>
        </p:nvSpPr>
        <p:spPr>
          <a:xfrm>
            <a:off x="419099" y="1110343"/>
            <a:ext cx="5477299" cy="5159828"/>
          </a:xfrm>
        </p:spPr>
        <p:txBody>
          <a:bodyPr>
            <a:normAutofit fontScale="92500" lnSpcReduction="20000"/>
          </a:bodyPr>
          <a:lstStyle/>
          <a:p>
            <a:r>
              <a:rPr lang="en-US" dirty="0"/>
              <a:t>The chart compares total bike rentals by weekday vs weekend and shows that overall usage is much higher on weekdays, mainly driven by registered users. Weekends have lower total demand but a relatively higher share of casual users.</a:t>
            </a:r>
          </a:p>
          <a:p>
            <a:r>
              <a:rPr lang="en-IN" b="1" dirty="0"/>
              <a:t>Key Highlights :-</a:t>
            </a:r>
            <a:endParaRPr lang="en-US" b="1" dirty="0"/>
          </a:p>
          <a:p>
            <a:r>
              <a:rPr lang="en-US" b="1" dirty="0"/>
              <a:t>Weekdays Dominate Total Usage</a:t>
            </a:r>
            <a:br>
              <a:rPr lang="en-US" dirty="0"/>
            </a:br>
            <a:r>
              <a:rPr lang="en-US" dirty="0"/>
              <a:t>Weekday rentals are significantly higher than weekends, indicating strong dependence on daily commuting.</a:t>
            </a:r>
          </a:p>
          <a:p>
            <a:r>
              <a:rPr lang="en-US" b="1" dirty="0"/>
              <a:t>Registered Users Drive Demand</a:t>
            </a:r>
            <a:br>
              <a:rPr lang="en-US" dirty="0"/>
            </a:br>
            <a:r>
              <a:rPr lang="en-US" dirty="0"/>
              <a:t>Registered users form the majority of rentals on both weekdays and weekends, especially on weekdays.</a:t>
            </a:r>
          </a:p>
          <a:p>
            <a:r>
              <a:rPr lang="en-US" b="1" dirty="0"/>
              <a:t>Casual Usage Increases on Weekends</a:t>
            </a:r>
            <a:br>
              <a:rPr lang="en-US" dirty="0"/>
            </a:br>
            <a:r>
              <a:rPr lang="en-US" dirty="0"/>
              <a:t>Although total volume is lower, casual rentals are slightly higher on weekends than weekdays, suggesting leisure-driven use.</a:t>
            </a:r>
          </a:p>
          <a:p>
            <a:r>
              <a:rPr lang="en-US" b="1" dirty="0"/>
              <a:t>Different Use Patterns by Week Type</a:t>
            </a:r>
            <a:br>
              <a:rPr lang="en-US" dirty="0"/>
            </a:br>
            <a:r>
              <a:rPr lang="en-US" dirty="0"/>
              <a:t>Weekdays reflect routine travel (office/work), while weekends show more flexible and recreational usage.</a:t>
            </a:r>
          </a:p>
          <a:p>
            <a:endParaRPr lang="en-IN" dirty="0"/>
          </a:p>
        </p:txBody>
      </p:sp>
    </p:spTree>
    <p:extLst>
      <p:ext uri="{BB962C8B-B14F-4D97-AF65-F5344CB8AC3E}">
        <p14:creationId xmlns:p14="http://schemas.microsoft.com/office/powerpoint/2010/main" val="1996486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0DCF6-8F51-8C85-3BB4-738FA3D92569}"/>
              </a:ext>
            </a:extLst>
          </p:cNvPr>
          <p:cNvSpPr>
            <a:spLocks noGrp="1"/>
          </p:cNvSpPr>
          <p:nvPr>
            <p:ph type="title"/>
          </p:nvPr>
        </p:nvSpPr>
        <p:spPr>
          <a:xfrm>
            <a:off x="2757783" y="251959"/>
            <a:ext cx="7000814" cy="362854"/>
          </a:xfrm>
        </p:spPr>
        <p:txBody>
          <a:bodyPr>
            <a:normAutofit fontScale="90000"/>
          </a:bodyPr>
          <a:lstStyle/>
          <a:p>
            <a:r>
              <a:rPr lang="en-IN" sz="2700" b="1" dirty="0"/>
              <a:t>Hour-wise</a:t>
            </a:r>
            <a:r>
              <a:rPr lang="en-IN" b="1" dirty="0"/>
              <a:t> </a:t>
            </a:r>
            <a:r>
              <a:rPr lang="en-IN" sz="2700" b="1" dirty="0"/>
              <a:t>Bike Rental Trends</a:t>
            </a:r>
          </a:p>
        </p:txBody>
      </p:sp>
      <p:graphicFrame>
        <p:nvGraphicFramePr>
          <p:cNvPr id="5" name="Content Placeholder 4">
            <a:extLst>
              <a:ext uri="{FF2B5EF4-FFF2-40B4-BE49-F238E27FC236}">
                <a16:creationId xmlns:a16="http://schemas.microsoft.com/office/drawing/2014/main" id="{3BE960A7-4048-4784-8E5E-9D4194ED343D}"/>
              </a:ext>
            </a:extLst>
          </p:cNvPr>
          <p:cNvGraphicFramePr>
            <a:graphicFrameLocks noGrp="1"/>
          </p:cNvGraphicFramePr>
          <p:nvPr>
            <p:ph idx="1"/>
            <p:extLst>
              <p:ext uri="{D42A27DB-BD31-4B8C-83A1-F6EECF244321}">
                <p14:modId xmlns:p14="http://schemas.microsoft.com/office/powerpoint/2010/main" val="2666927496"/>
              </p:ext>
            </p:extLst>
          </p:nvPr>
        </p:nvGraphicFramePr>
        <p:xfrm>
          <a:off x="5988472" y="1173707"/>
          <a:ext cx="5680364" cy="5069480"/>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 Placeholder 3">
            <a:extLst>
              <a:ext uri="{FF2B5EF4-FFF2-40B4-BE49-F238E27FC236}">
                <a16:creationId xmlns:a16="http://schemas.microsoft.com/office/drawing/2014/main" id="{94A6B44A-50DE-774E-CDF3-D064C0782CFD}"/>
              </a:ext>
            </a:extLst>
          </p:cNvPr>
          <p:cNvSpPr>
            <a:spLocks noGrp="1"/>
          </p:cNvSpPr>
          <p:nvPr>
            <p:ph type="body" sz="half" idx="2"/>
          </p:nvPr>
        </p:nvSpPr>
        <p:spPr>
          <a:xfrm>
            <a:off x="523164" y="1173707"/>
            <a:ext cx="5304429" cy="5069480"/>
          </a:xfrm>
        </p:spPr>
        <p:txBody>
          <a:bodyPr>
            <a:normAutofit fontScale="92500" lnSpcReduction="20000"/>
          </a:bodyPr>
          <a:lstStyle/>
          <a:p>
            <a:r>
              <a:rPr lang="en-US" dirty="0"/>
              <a:t>This chart shows bike rentals by hour of the day. Most rentals come from registered users, with clear peaks in the morning and evening. Casual users rent fewer bikes and mostly during the daytime.</a:t>
            </a:r>
          </a:p>
          <a:p>
            <a:endParaRPr lang="en-US" dirty="0"/>
          </a:p>
          <a:p>
            <a:r>
              <a:rPr lang="en-IN" b="1" dirty="0"/>
              <a:t>Key Highlights :-</a:t>
            </a:r>
            <a:endParaRPr lang="en-US" dirty="0"/>
          </a:p>
          <a:p>
            <a:r>
              <a:rPr lang="en-US" b="1" dirty="0"/>
              <a:t>Morning and evening are busiest</a:t>
            </a:r>
            <a:br>
              <a:rPr lang="en-US" dirty="0"/>
            </a:br>
            <a:r>
              <a:rPr lang="en-US" dirty="0"/>
              <a:t>Rentals are highest around 8–9 AM and 5–6 PM, mainly because people travel to and from work.</a:t>
            </a:r>
          </a:p>
          <a:p>
            <a:r>
              <a:rPr lang="en-US" b="1" dirty="0"/>
              <a:t>Registered users use bikes the most</a:t>
            </a:r>
            <a:br>
              <a:rPr lang="en-US" dirty="0"/>
            </a:br>
            <a:r>
              <a:rPr lang="en-US" dirty="0"/>
              <a:t>Registered users rent many more bikes than casual users at all hours.</a:t>
            </a:r>
          </a:p>
          <a:p>
            <a:r>
              <a:rPr lang="en-US" b="1" dirty="0"/>
              <a:t>Very low use at night</a:t>
            </a:r>
            <a:br>
              <a:rPr lang="en-US" dirty="0"/>
            </a:br>
            <a:r>
              <a:rPr lang="en-US" dirty="0"/>
              <a:t>From 12 AM to early morning, bike usage is very low.</a:t>
            </a:r>
          </a:p>
          <a:p>
            <a:r>
              <a:rPr lang="en-US" b="1" dirty="0"/>
              <a:t>Casual users prefer daytime</a:t>
            </a:r>
            <a:br>
              <a:rPr lang="en-US" dirty="0"/>
            </a:br>
            <a:r>
              <a:rPr lang="en-US" dirty="0"/>
              <a:t>Casual users mostly rent bikes in the late morning and afternoon, likely for leisure or short trips.</a:t>
            </a:r>
          </a:p>
          <a:p>
            <a:endParaRPr lang="en-IN" dirty="0"/>
          </a:p>
        </p:txBody>
      </p:sp>
    </p:spTree>
    <p:extLst>
      <p:ext uri="{BB962C8B-B14F-4D97-AF65-F5344CB8AC3E}">
        <p14:creationId xmlns:p14="http://schemas.microsoft.com/office/powerpoint/2010/main" val="10687836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04701-A741-6A5B-B4D0-84B3400076B6}"/>
              </a:ext>
            </a:extLst>
          </p:cNvPr>
          <p:cNvSpPr>
            <a:spLocks noGrp="1"/>
          </p:cNvSpPr>
          <p:nvPr>
            <p:ph type="title"/>
          </p:nvPr>
        </p:nvSpPr>
        <p:spPr>
          <a:xfrm>
            <a:off x="3530184" y="386051"/>
            <a:ext cx="5828853" cy="530226"/>
          </a:xfrm>
        </p:spPr>
        <p:txBody>
          <a:bodyPr>
            <a:noAutofit/>
          </a:bodyPr>
          <a:lstStyle/>
          <a:p>
            <a:r>
              <a:rPr lang="en-US" sz="2400" b="1" dirty="0"/>
              <a:t>Impact of Weather on Bike Rental Usage</a:t>
            </a:r>
            <a:endParaRPr lang="en-IN" sz="2400" b="1" dirty="0"/>
          </a:p>
        </p:txBody>
      </p:sp>
      <p:graphicFrame>
        <p:nvGraphicFramePr>
          <p:cNvPr id="5" name="Content Placeholder 4">
            <a:extLst>
              <a:ext uri="{FF2B5EF4-FFF2-40B4-BE49-F238E27FC236}">
                <a16:creationId xmlns:a16="http://schemas.microsoft.com/office/drawing/2014/main" id="{A2712B9C-9B9C-3A8B-8229-9A58489AEA21}"/>
              </a:ext>
            </a:extLst>
          </p:cNvPr>
          <p:cNvGraphicFramePr>
            <a:graphicFrameLocks noGrp="1"/>
          </p:cNvGraphicFramePr>
          <p:nvPr>
            <p:ph idx="1"/>
            <p:extLst>
              <p:ext uri="{D42A27DB-BD31-4B8C-83A1-F6EECF244321}">
                <p14:modId xmlns:p14="http://schemas.microsoft.com/office/powerpoint/2010/main" val="3979958657"/>
              </p:ext>
            </p:extLst>
          </p:nvPr>
        </p:nvGraphicFramePr>
        <p:xfrm>
          <a:off x="6264729" y="1322613"/>
          <a:ext cx="5393870" cy="4884223"/>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 Placeholder 3">
            <a:extLst>
              <a:ext uri="{FF2B5EF4-FFF2-40B4-BE49-F238E27FC236}">
                <a16:creationId xmlns:a16="http://schemas.microsoft.com/office/drawing/2014/main" id="{9D95F6CB-A45F-38F0-9666-CA16C4401E5A}"/>
              </a:ext>
            </a:extLst>
          </p:cNvPr>
          <p:cNvSpPr>
            <a:spLocks noGrp="1"/>
          </p:cNvSpPr>
          <p:nvPr>
            <p:ph type="body" sz="half" idx="2"/>
          </p:nvPr>
        </p:nvSpPr>
        <p:spPr>
          <a:xfrm>
            <a:off x="533402" y="1322614"/>
            <a:ext cx="5393870" cy="5078187"/>
          </a:xfrm>
        </p:spPr>
        <p:txBody>
          <a:bodyPr>
            <a:normAutofit fontScale="92500" lnSpcReduction="10000"/>
          </a:bodyPr>
          <a:lstStyle/>
          <a:p>
            <a:r>
              <a:rPr lang="en-US" dirty="0"/>
              <a:t>Bike rentals depend strongly on weather conditions. Most users ride bikes when the weather is clear or partly cloudy. Rentals drop sharply during rain and snow, especially for casual users.</a:t>
            </a:r>
          </a:p>
          <a:p>
            <a:endParaRPr lang="en-US" dirty="0"/>
          </a:p>
          <a:p>
            <a:r>
              <a:rPr lang="en-IN" b="1" dirty="0"/>
              <a:t>Key Highlights :-</a:t>
            </a:r>
            <a:endParaRPr lang="en-US" dirty="0"/>
          </a:p>
          <a:p>
            <a:r>
              <a:rPr lang="en-US" b="1" dirty="0"/>
              <a:t>Best usage in clear weather :-</a:t>
            </a:r>
            <a:br>
              <a:rPr lang="en-US" dirty="0"/>
            </a:br>
            <a:r>
              <a:rPr lang="en-US" dirty="0"/>
              <a:t>Most bike rentals happen when the weather is clear or partly cloudy.</a:t>
            </a:r>
          </a:p>
          <a:p>
            <a:r>
              <a:rPr lang="en-US" b="1" dirty="0"/>
              <a:t>Registered users ride in all weather :-</a:t>
            </a:r>
            <a:br>
              <a:rPr lang="en-US" dirty="0"/>
            </a:br>
            <a:r>
              <a:rPr lang="en-US" dirty="0"/>
              <a:t>Registered users continue using bikes even in mist or light rain, unlike casual users.</a:t>
            </a:r>
          </a:p>
          <a:p>
            <a:r>
              <a:rPr lang="en-US" b="1" dirty="0"/>
              <a:t>Very low usage in bad weather :-</a:t>
            </a:r>
            <a:br>
              <a:rPr lang="en-US" dirty="0"/>
            </a:br>
            <a:r>
              <a:rPr lang="en-US" dirty="0"/>
              <a:t>Heavy rain and snow show extremely low bike usage.</a:t>
            </a:r>
          </a:p>
          <a:p>
            <a:r>
              <a:rPr lang="en-US" b="1" dirty="0"/>
              <a:t>Casual users are weather-sensitive :-</a:t>
            </a:r>
            <a:br>
              <a:rPr lang="en-US" dirty="0"/>
            </a:br>
            <a:r>
              <a:rPr lang="en-US" dirty="0"/>
              <a:t>Casual users mostly ride only in good weather.</a:t>
            </a:r>
          </a:p>
          <a:p>
            <a:endParaRPr lang="en-IN" dirty="0"/>
          </a:p>
        </p:txBody>
      </p:sp>
    </p:spTree>
    <p:extLst>
      <p:ext uri="{BB962C8B-B14F-4D97-AF65-F5344CB8AC3E}">
        <p14:creationId xmlns:p14="http://schemas.microsoft.com/office/powerpoint/2010/main" val="21450072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9279D-59BA-6F43-6528-5D75EC0998A4}"/>
              </a:ext>
            </a:extLst>
          </p:cNvPr>
          <p:cNvSpPr>
            <a:spLocks noGrp="1"/>
          </p:cNvSpPr>
          <p:nvPr>
            <p:ph type="title"/>
          </p:nvPr>
        </p:nvSpPr>
        <p:spPr>
          <a:xfrm>
            <a:off x="3987384" y="212404"/>
            <a:ext cx="4938844" cy="674175"/>
          </a:xfrm>
        </p:spPr>
        <p:txBody>
          <a:bodyPr>
            <a:noAutofit/>
          </a:bodyPr>
          <a:lstStyle/>
          <a:p>
            <a:r>
              <a:rPr lang="en-IN" sz="2400" b="1" dirty="0">
                <a:solidFill>
                  <a:schemeClr val="tx2">
                    <a:lumMod val="50000"/>
                    <a:lumOff val="50000"/>
                  </a:schemeClr>
                </a:solidFill>
              </a:rPr>
              <a:t>Month-wise Bike Rental Distribution</a:t>
            </a:r>
          </a:p>
        </p:txBody>
      </p:sp>
      <p:graphicFrame>
        <p:nvGraphicFramePr>
          <p:cNvPr id="5" name="Content Placeholder 4">
            <a:extLst>
              <a:ext uri="{FF2B5EF4-FFF2-40B4-BE49-F238E27FC236}">
                <a16:creationId xmlns:a16="http://schemas.microsoft.com/office/drawing/2014/main" id="{822303E4-C9CC-C7D5-CA53-940C443B3D8F}"/>
              </a:ext>
            </a:extLst>
          </p:cNvPr>
          <p:cNvGraphicFramePr>
            <a:graphicFrameLocks noGrp="1"/>
          </p:cNvGraphicFramePr>
          <p:nvPr>
            <p:ph idx="1"/>
            <p:extLst>
              <p:ext uri="{D42A27DB-BD31-4B8C-83A1-F6EECF244321}">
                <p14:modId xmlns:p14="http://schemas.microsoft.com/office/powerpoint/2010/main" val="456011083"/>
              </p:ext>
            </p:extLst>
          </p:nvPr>
        </p:nvGraphicFramePr>
        <p:xfrm>
          <a:off x="6673515" y="1207760"/>
          <a:ext cx="5060915" cy="4898572"/>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 Placeholder 3">
            <a:extLst>
              <a:ext uri="{FF2B5EF4-FFF2-40B4-BE49-F238E27FC236}">
                <a16:creationId xmlns:a16="http://schemas.microsoft.com/office/drawing/2014/main" id="{5A9C36EC-16AF-563D-9290-1F5A4C996E4D}"/>
              </a:ext>
            </a:extLst>
          </p:cNvPr>
          <p:cNvSpPr>
            <a:spLocks noGrp="1"/>
          </p:cNvSpPr>
          <p:nvPr>
            <p:ph type="body" sz="half" idx="2"/>
          </p:nvPr>
        </p:nvSpPr>
        <p:spPr>
          <a:xfrm>
            <a:off x="839788" y="1207760"/>
            <a:ext cx="5256212" cy="4976063"/>
          </a:xfrm>
        </p:spPr>
        <p:txBody>
          <a:bodyPr>
            <a:normAutofit fontScale="92500" lnSpcReduction="20000"/>
          </a:bodyPr>
          <a:lstStyle/>
          <a:p>
            <a:r>
              <a:rPr lang="en-US" dirty="0"/>
              <a:t>This chart shows monthly bike rentals. January has much higher usage than February, contributing nearly two-thirds of total rentals. This indicates strong seasonality in bike demand.</a:t>
            </a:r>
          </a:p>
          <a:p>
            <a:r>
              <a:rPr lang="en-IN" b="1" dirty="0"/>
              <a:t>Key Highlights :-</a:t>
            </a:r>
            <a:endParaRPr lang="en-US" b="1" dirty="0"/>
          </a:p>
          <a:p>
            <a:r>
              <a:rPr lang="en-US" b="1" dirty="0"/>
              <a:t>January is the peak month :-</a:t>
            </a:r>
            <a:br>
              <a:rPr lang="en-US" dirty="0"/>
            </a:br>
            <a:r>
              <a:rPr lang="en-US" dirty="0"/>
              <a:t>January accounts for 38,189 rentals (65%), showing very high demand.</a:t>
            </a:r>
          </a:p>
          <a:p>
            <a:r>
              <a:rPr lang="en-US" b="1" dirty="0"/>
              <a:t>February has lower usage :-</a:t>
            </a:r>
            <a:br>
              <a:rPr lang="en-US" dirty="0"/>
            </a:br>
            <a:r>
              <a:rPr lang="en-US" dirty="0"/>
              <a:t>February records 20,115 rentals (35%), almost half of January’s usage.</a:t>
            </a:r>
          </a:p>
          <a:p>
            <a:r>
              <a:rPr lang="en-US" b="1" dirty="0"/>
              <a:t>Clear seasonal effect :-</a:t>
            </a:r>
            <a:br>
              <a:rPr lang="en-US" dirty="0"/>
            </a:br>
            <a:r>
              <a:rPr lang="en-US" dirty="0"/>
              <a:t>Bike usage changes by month, likely due to weather or seasonal conditions.</a:t>
            </a:r>
          </a:p>
          <a:p>
            <a:r>
              <a:rPr lang="en-US" b="1" dirty="0"/>
              <a:t>Better planning for peak months :-</a:t>
            </a:r>
            <a:br>
              <a:rPr lang="en-US" dirty="0"/>
            </a:br>
            <a:r>
              <a:rPr lang="en-US" dirty="0"/>
              <a:t>More bikes and resources should be planned for high-demand months like January.</a:t>
            </a:r>
          </a:p>
          <a:p>
            <a:endParaRPr lang="en-IN" dirty="0"/>
          </a:p>
        </p:txBody>
      </p:sp>
    </p:spTree>
    <p:extLst>
      <p:ext uri="{BB962C8B-B14F-4D97-AF65-F5344CB8AC3E}">
        <p14:creationId xmlns:p14="http://schemas.microsoft.com/office/powerpoint/2010/main" val="3823311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27D2D-9D1B-8D22-3388-C74FF9B76832}"/>
              </a:ext>
            </a:extLst>
          </p:cNvPr>
          <p:cNvSpPr>
            <a:spLocks noGrp="1"/>
          </p:cNvSpPr>
          <p:nvPr>
            <p:ph type="title"/>
          </p:nvPr>
        </p:nvSpPr>
        <p:spPr>
          <a:xfrm>
            <a:off x="3447738" y="300575"/>
            <a:ext cx="5848050" cy="530225"/>
          </a:xfrm>
        </p:spPr>
        <p:txBody>
          <a:bodyPr>
            <a:noAutofit/>
          </a:bodyPr>
          <a:lstStyle/>
          <a:p>
            <a:r>
              <a:rPr lang="en-US" sz="2000" b="1" dirty="0"/>
              <a:t>Average Bike Rentals by Weather Condition</a:t>
            </a:r>
            <a:endParaRPr lang="en-IN" sz="2000" b="1" dirty="0"/>
          </a:p>
        </p:txBody>
      </p:sp>
      <p:graphicFrame>
        <p:nvGraphicFramePr>
          <p:cNvPr id="5" name="Content Placeholder 4">
            <a:extLst>
              <a:ext uri="{FF2B5EF4-FFF2-40B4-BE49-F238E27FC236}">
                <a16:creationId xmlns:a16="http://schemas.microsoft.com/office/drawing/2014/main" id="{35656610-9220-4D1F-83CA-40B3088B2EBC}"/>
              </a:ext>
            </a:extLst>
          </p:cNvPr>
          <p:cNvGraphicFramePr>
            <a:graphicFrameLocks noGrp="1"/>
          </p:cNvGraphicFramePr>
          <p:nvPr>
            <p:ph idx="1"/>
            <p:extLst>
              <p:ext uri="{D42A27DB-BD31-4B8C-83A1-F6EECF244321}">
                <p14:modId xmlns:p14="http://schemas.microsoft.com/office/powerpoint/2010/main" val="3665644115"/>
              </p:ext>
            </p:extLst>
          </p:nvPr>
        </p:nvGraphicFramePr>
        <p:xfrm>
          <a:off x="6096000" y="987425"/>
          <a:ext cx="5589722" cy="5180899"/>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 Placeholder 3">
            <a:extLst>
              <a:ext uri="{FF2B5EF4-FFF2-40B4-BE49-F238E27FC236}">
                <a16:creationId xmlns:a16="http://schemas.microsoft.com/office/drawing/2014/main" id="{51148F0F-4CD2-77AF-B488-74FDD5EEB183}"/>
              </a:ext>
            </a:extLst>
          </p:cNvPr>
          <p:cNvSpPr>
            <a:spLocks noGrp="1"/>
          </p:cNvSpPr>
          <p:nvPr>
            <p:ph type="body" sz="half" idx="2"/>
          </p:nvPr>
        </p:nvSpPr>
        <p:spPr>
          <a:xfrm>
            <a:off x="506278" y="1111413"/>
            <a:ext cx="5589722" cy="5180899"/>
          </a:xfrm>
        </p:spPr>
        <p:txBody>
          <a:bodyPr>
            <a:normAutofit fontScale="92500"/>
          </a:bodyPr>
          <a:lstStyle/>
          <a:p>
            <a:r>
              <a:rPr lang="en-US" dirty="0"/>
              <a:t>This chart shows the average number of bike rentals under different weather conditions. Bike usage is highest in clear or partly cloudy weather and lowest during snow or rain.</a:t>
            </a:r>
          </a:p>
          <a:p>
            <a:endParaRPr lang="en-US" dirty="0"/>
          </a:p>
          <a:p>
            <a:r>
              <a:rPr lang="en-IN" b="1" dirty="0"/>
              <a:t>Key Highlights :-</a:t>
            </a:r>
          </a:p>
          <a:p>
            <a:endParaRPr lang="en-US" dirty="0"/>
          </a:p>
          <a:p>
            <a:r>
              <a:rPr lang="en-US" b="1" dirty="0"/>
              <a:t>Best average usage in clear weather :-</a:t>
            </a:r>
            <a:br>
              <a:rPr lang="en-US" dirty="0"/>
            </a:br>
            <a:r>
              <a:rPr lang="en-US" dirty="0"/>
              <a:t>Clear/Partly Cloudy weather has the highest average rentals.</a:t>
            </a:r>
          </a:p>
          <a:p>
            <a:r>
              <a:rPr lang="en-US" b="1" dirty="0"/>
              <a:t>Mist/cloudy also supports good usage :-</a:t>
            </a:r>
            <a:br>
              <a:rPr lang="en-US" dirty="0"/>
            </a:br>
            <a:r>
              <a:rPr lang="en-US" dirty="0"/>
              <a:t>Even with mist or cloudy weather, bike usage remains relatively high.</a:t>
            </a:r>
          </a:p>
          <a:p>
            <a:r>
              <a:rPr lang="en-US" b="1" dirty="0"/>
              <a:t>Rain reduces bike usage :-</a:t>
            </a:r>
            <a:br>
              <a:rPr lang="en-US" dirty="0"/>
            </a:br>
            <a:r>
              <a:rPr lang="en-US" dirty="0"/>
              <a:t>Heavy rain significantly lowers average rentals.</a:t>
            </a:r>
          </a:p>
          <a:p>
            <a:r>
              <a:rPr lang="en-US" b="1" dirty="0"/>
              <a:t>Snow or light rain has the lowest usage :-</a:t>
            </a:r>
            <a:br>
              <a:rPr lang="en-US" dirty="0"/>
            </a:br>
            <a:r>
              <a:rPr lang="en-US" dirty="0"/>
              <a:t>Light snow/rain shows the lowest average rentals.</a:t>
            </a:r>
          </a:p>
          <a:p>
            <a:endParaRPr lang="en-IN" dirty="0"/>
          </a:p>
        </p:txBody>
      </p:sp>
    </p:spTree>
    <p:extLst>
      <p:ext uri="{BB962C8B-B14F-4D97-AF65-F5344CB8AC3E}">
        <p14:creationId xmlns:p14="http://schemas.microsoft.com/office/powerpoint/2010/main" val="26519799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8504B-E90B-E3A9-FB11-3362B6557D7B}"/>
              </a:ext>
            </a:extLst>
          </p:cNvPr>
          <p:cNvSpPr>
            <a:spLocks noGrp="1"/>
          </p:cNvSpPr>
          <p:nvPr>
            <p:ph type="title"/>
          </p:nvPr>
        </p:nvSpPr>
        <p:spPr>
          <a:xfrm>
            <a:off x="2783307" y="164892"/>
            <a:ext cx="6384755" cy="434715"/>
          </a:xfrm>
        </p:spPr>
        <p:txBody>
          <a:bodyPr>
            <a:normAutofit fontScale="90000"/>
          </a:bodyPr>
          <a:lstStyle/>
          <a:p>
            <a:r>
              <a:rPr lang="en-IN" sz="2700" b="1" dirty="0"/>
              <a:t>Weekday-wise</a:t>
            </a:r>
            <a:r>
              <a:rPr lang="en-IN" b="1" dirty="0"/>
              <a:t> </a:t>
            </a:r>
            <a:r>
              <a:rPr lang="en-IN" sz="2700" b="1" dirty="0"/>
              <a:t>Bike Rental Usage</a:t>
            </a:r>
          </a:p>
        </p:txBody>
      </p:sp>
      <p:graphicFrame>
        <p:nvGraphicFramePr>
          <p:cNvPr id="5" name="Content Placeholder 4">
            <a:extLst>
              <a:ext uri="{FF2B5EF4-FFF2-40B4-BE49-F238E27FC236}">
                <a16:creationId xmlns:a16="http://schemas.microsoft.com/office/drawing/2014/main" id="{8AF831EA-4E0E-AD1A-D306-5FE60F48548D}"/>
              </a:ext>
            </a:extLst>
          </p:cNvPr>
          <p:cNvGraphicFramePr>
            <a:graphicFrameLocks noGrp="1"/>
          </p:cNvGraphicFramePr>
          <p:nvPr>
            <p:ph idx="1"/>
            <p:extLst>
              <p:ext uri="{D42A27DB-BD31-4B8C-83A1-F6EECF244321}">
                <p14:modId xmlns:p14="http://schemas.microsoft.com/office/powerpoint/2010/main" val="2474507285"/>
              </p:ext>
            </p:extLst>
          </p:nvPr>
        </p:nvGraphicFramePr>
        <p:xfrm>
          <a:off x="5422232" y="987425"/>
          <a:ext cx="6384755" cy="5381291"/>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 Placeholder 3">
            <a:extLst>
              <a:ext uri="{FF2B5EF4-FFF2-40B4-BE49-F238E27FC236}">
                <a16:creationId xmlns:a16="http://schemas.microsoft.com/office/drawing/2014/main" id="{B2FADC24-2808-8341-413F-CE0D7504909E}"/>
              </a:ext>
            </a:extLst>
          </p:cNvPr>
          <p:cNvSpPr>
            <a:spLocks noGrp="1"/>
          </p:cNvSpPr>
          <p:nvPr>
            <p:ph type="body" sz="half" idx="2"/>
          </p:nvPr>
        </p:nvSpPr>
        <p:spPr>
          <a:xfrm>
            <a:off x="385014" y="1019511"/>
            <a:ext cx="4796586" cy="5381290"/>
          </a:xfrm>
        </p:spPr>
        <p:txBody>
          <a:bodyPr>
            <a:normAutofit fontScale="92500" lnSpcReduction="10000"/>
          </a:bodyPr>
          <a:lstStyle/>
          <a:p>
            <a:r>
              <a:rPr lang="en-US" dirty="0"/>
              <a:t>This chart shows bike rentals by day of the week. Registered users rent bikes much more than casual users on all days. Usage is highest on Friday and lower during mid-week.</a:t>
            </a:r>
          </a:p>
          <a:p>
            <a:endParaRPr lang="en-US" dirty="0"/>
          </a:p>
          <a:p>
            <a:r>
              <a:rPr lang="en-IN" b="1" dirty="0"/>
              <a:t>Key Highlights :-</a:t>
            </a:r>
            <a:endParaRPr lang="en-US" b="1" dirty="0"/>
          </a:p>
          <a:p>
            <a:r>
              <a:rPr lang="en-US" b="1" dirty="0"/>
              <a:t>Registered users dominate every day :-</a:t>
            </a:r>
            <a:br>
              <a:rPr lang="en-US" dirty="0"/>
            </a:br>
            <a:r>
              <a:rPr lang="en-US" dirty="0"/>
              <a:t>Registered rentals are much higher than casual rentals across all weekdays.</a:t>
            </a:r>
          </a:p>
          <a:p>
            <a:r>
              <a:rPr lang="en-US" b="1" dirty="0"/>
              <a:t>Friday has the highest usage :-</a:t>
            </a:r>
            <a:br>
              <a:rPr lang="en-US" dirty="0"/>
            </a:br>
            <a:r>
              <a:rPr lang="en-US" dirty="0"/>
              <a:t>Bike rentals peak on Friday, likely due to end-of-week travel.</a:t>
            </a:r>
          </a:p>
          <a:p>
            <a:r>
              <a:rPr lang="en-US" b="1" dirty="0"/>
              <a:t>Mid-week is quieter for casual users :-</a:t>
            </a:r>
            <a:br>
              <a:rPr lang="en-US" dirty="0"/>
            </a:br>
            <a:r>
              <a:rPr lang="en-US" dirty="0"/>
              <a:t>Casual rentals are lowest from Tuesday to Thursday.</a:t>
            </a:r>
          </a:p>
          <a:p>
            <a:r>
              <a:rPr lang="en-US" b="1" dirty="0"/>
              <a:t>Weekend casual usage increases :-</a:t>
            </a:r>
            <a:br>
              <a:rPr lang="en-US" dirty="0"/>
            </a:br>
            <a:r>
              <a:rPr lang="en-US" dirty="0"/>
              <a:t>Casual rentals rise on Saturday and Sunday, showing leisure usage.</a:t>
            </a:r>
          </a:p>
          <a:p>
            <a:endParaRPr lang="en-IN" dirty="0"/>
          </a:p>
        </p:txBody>
      </p:sp>
    </p:spTree>
    <p:extLst>
      <p:ext uri="{BB962C8B-B14F-4D97-AF65-F5344CB8AC3E}">
        <p14:creationId xmlns:p14="http://schemas.microsoft.com/office/powerpoint/2010/main" val="7847436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5C2B6-DD56-DE34-5135-A565C4947CC0}"/>
              </a:ext>
            </a:extLst>
          </p:cNvPr>
          <p:cNvSpPr>
            <a:spLocks noGrp="1"/>
          </p:cNvSpPr>
          <p:nvPr>
            <p:ph type="title"/>
          </p:nvPr>
        </p:nvSpPr>
        <p:spPr>
          <a:xfrm>
            <a:off x="3160294" y="208131"/>
            <a:ext cx="5903493" cy="530224"/>
          </a:xfrm>
        </p:spPr>
        <p:txBody>
          <a:bodyPr>
            <a:normAutofit fontScale="90000"/>
          </a:bodyPr>
          <a:lstStyle/>
          <a:p>
            <a:r>
              <a:rPr lang="en-US" sz="2400" b="1" dirty="0"/>
              <a:t>Bike Rentals by Temperature Category</a:t>
            </a:r>
            <a:endParaRPr lang="en-IN" sz="2400" b="1" dirty="0"/>
          </a:p>
        </p:txBody>
      </p:sp>
      <p:graphicFrame>
        <p:nvGraphicFramePr>
          <p:cNvPr id="5" name="Content Placeholder 4">
            <a:extLst>
              <a:ext uri="{FF2B5EF4-FFF2-40B4-BE49-F238E27FC236}">
                <a16:creationId xmlns:a16="http://schemas.microsoft.com/office/drawing/2014/main" id="{81E95633-4A51-E008-ADC9-DCEBFC30DCBF}"/>
              </a:ext>
            </a:extLst>
          </p:cNvPr>
          <p:cNvGraphicFramePr>
            <a:graphicFrameLocks noGrp="1"/>
          </p:cNvGraphicFramePr>
          <p:nvPr>
            <p:ph idx="1"/>
            <p:extLst>
              <p:ext uri="{D42A27DB-BD31-4B8C-83A1-F6EECF244321}">
                <p14:modId xmlns:p14="http://schemas.microsoft.com/office/powerpoint/2010/main" val="2149828142"/>
              </p:ext>
            </p:extLst>
          </p:nvPr>
        </p:nvGraphicFramePr>
        <p:xfrm>
          <a:off x="5871411" y="987424"/>
          <a:ext cx="5903493" cy="5397333"/>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 Placeholder 3">
            <a:extLst>
              <a:ext uri="{FF2B5EF4-FFF2-40B4-BE49-F238E27FC236}">
                <a16:creationId xmlns:a16="http://schemas.microsoft.com/office/drawing/2014/main" id="{A8A89597-425A-329F-D564-30719BF2E06C}"/>
              </a:ext>
            </a:extLst>
          </p:cNvPr>
          <p:cNvSpPr>
            <a:spLocks noGrp="1"/>
          </p:cNvSpPr>
          <p:nvPr>
            <p:ph type="body" sz="half" idx="2"/>
          </p:nvPr>
        </p:nvSpPr>
        <p:spPr>
          <a:xfrm>
            <a:off x="641684" y="1283368"/>
            <a:ext cx="5037221" cy="5101389"/>
          </a:xfrm>
        </p:spPr>
        <p:txBody>
          <a:bodyPr>
            <a:normAutofit fontScale="92500" lnSpcReduction="10000"/>
          </a:bodyPr>
          <a:lstStyle/>
          <a:p>
            <a:r>
              <a:rPr lang="en-US" dirty="0"/>
              <a:t>This chart shows bike rentals by temperature category. Mild weather has the highest bike usage, followed by cold weather, while warm weather has the lowest usage. Registered users rent more bikes in all temperature conditions.</a:t>
            </a:r>
          </a:p>
          <a:p>
            <a:br>
              <a:rPr lang="en-US" dirty="0"/>
            </a:br>
            <a:r>
              <a:rPr lang="en-IN" b="1" dirty="0"/>
              <a:t>Key Highlights :-</a:t>
            </a:r>
            <a:endParaRPr lang="en-US" dirty="0"/>
          </a:p>
          <a:p>
            <a:r>
              <a:rPr lang="en-US" b="1" dirty="0"/>
              <a:t>Mild weather is best for bike rentals :-</a:t>
            </a:r>
            <a:br>
              <a:rPr lang="en-US" dirty="0"/>
            </a:br>
            <a:r>
              <a:rPr lang="en-US" dirty="0"/>
              <a:t>Most rentals happen when the temperature is mild.</a:t>
            </a:r>
          </a:p>
          <a:p>
            <a:r>
              <a:rPr lang="en-US" b="1" dirty="0"/>
              <a:t>Registered users dominate in all temperatures :-</a:t>
            </a:r>
            <a:br>
              <a:rPr lang="en-US" dirty="0"/>
            </a:br>
            <a:r>
              <a:rPr lang="en-US" dirty="0"/>
              <a:t>Registered users rent far more bikes than casual users in every temperature category.</a:t>
            </a:r>
          </a:p>
          <a:p>
            <a:r>
              <a:rPr lang="en-US" b="1" dirty="0"/>
              <a:t>Cold weather still has good demand :-</a:t>
            </a:r>
            <a:br>
              <a:rPr lang="en-US" dirty="0"/>
            </a:br>
            <a:r>
              <a:rPr lang="en-US" dirty="0"/>
              <a:t>Bike usage remains strong even in cold conditions.</a:t>
            </a:r>
          </a:p>
          <a:p>
            <a:r>
              <a:rPr lang="en-US" b="1" dirty="0"/>
              <a:t>Warm weather shows lower usage :-</a:t>
            </a:r>
            <a:br>
              <a:rPr lang="en-US" dirty="0"/>
            </a:br>
            <a:r>
              <a:rPr lang="en-US" dirty="0"/>
              <a:t>Fewer people rent bikes during warm temperatures, possibly due to discomfort.</a:t>
            </a:r>
          </a:p>
          <a:p>
            <a:endParaRPr lang="en-IN" dirty="0"/>
          </a:p>
        </p:txBody>
      </p:sp>
    </p:spTree>
    <p:extLst>
      <p:ext uri="{BB962C8B-B14F-4D97-AF65-F5344CB8AC3E}">
        <p14:creationId xmlns:p14="http://schemas.microsoft.com/office/powerpoint/2010/main" val="36535927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649D3-2B34-546C-2553-6D860AADCC53}"/>
              </a:ext>
            </a:extLst>
          </p:cNvPr>
          <p:cNvSpPr>
            <a:spLocks noGrp="1"/>
          </p:cNvSpPr>
          <p:nvPr>
            <p:ph type="title"/>
          </p:nvPr>
        </p:nvSpPr>
        <p:spPr>
          <a:xfrm>
            <a:off x="3367790" y="88494"/>
            <a:ext cx="5456420" cy="532282"/>
          </a:xfrm>
        </p:spPr>
        <p:txBody>
          <a:bodyPr>
            <a:normAutofit/>
          </a:bodyPr>
          <a:lstStyle/>
          <a:p>
            <a:r>
              <a:rPr lang="en-US" sz="2400" b="1" dirty="0"/>
              <a:t>Bike Rentals by Time Period</a:t>
            </a:r>
            <a:endParaRPr lang="en-IN" sz="2400" b="1" dirty="0"/>
          </a:p>
        </p:txBody>
      </p:sp>
      <p:graphicFrame>
        <p:nvGraphicFramePr>
          <p:cNvPr id="5" name="Content Placeholder 4">
            <a:extLst>
              <a:ext uri="{FF2B5EF4-FFF2-40B4-BE49-F238E27FC236}">
                <a16:creationId xmlns:a16="http://schemas.microsoft.com/office/drawing/2014/main" id="{E00BAD54-3D23-CB37-C767-B7903ED8C2B1}"/>
              </a:ext>
            </a:extLst>
          </p:cNvPr>
          <p:cNvGraphicFramePr>
            <a:graphicFrameLocks noGrp="1"/>
          </p:cNvGraphicFramePr>
          <p:nvPr>
            <p:ph idx="1"/>
            <p:extLst>
              <p:ext uri="{D42A27DB-BD31-4B8C-83A1-F6EECF244321}">
                <p14:modId xmlns:p14="http://schemas.microsoft.com/office/powerpoint/2010/main" val="2045473187"/>
              </p:ext>
            </p:extLst>
          </p:nvPr>
        </p:nvGraphicFramePr>
        <p:xfrm>
          <a:off x="5245768" y="1059493"/>
          <a:ext cx="6657474" cy="5443872"/>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 Placeholder 3">
            <a:extLst>
              <a:ext uri="{FF2B5EF4-FFF2-40B4-BE49-F238E27FC236}">
                <a16:creationId xmlns:a16="http://schemas.microsoft.com/office/drawing/2014/main" id="{DFA8B62E-29ED-E340-2341-2625D5DCFCE4}"/>
              </a:ext>
            </a:extLst>
          </p:cNvPr>
          <p:cNvSpPr>
            <a:spLocks noGrp="1"/>
          </p:cNvSpPr>
          <p:nvPr>
            <p:ph type="body" sz="half" idx="2"/>
          </p:nvPr>
        </p:nvSpPr>
        <p:spPr>
          <a:xfrm>
            <a:off x="288758" y="758346"/>
            <a:ext cx="4957010" cy="5341307"/>
          </a:xfrm>
        </p:spPr>
        <p:txBody>
          <a:bodyPr>
            <a:noAutofit/>
          </a:bodyPr>
          <a:lstStyle/>
          <a:p>
            <a:endParaRPr lang="en-US" sz="1400" dirty="0"/>
          </a:p>
          <a:p>
            <a:r>
              <a:rPr lang="en-US" sz="1400" dirty="0"/>
              <a:t>This chart shows bike rentals by time period of the day. Registered users rent the most bikes in the evening and morning, while casual users prefer the afternoon. Night-time usage is the lowest for both user types.</a:t>
            </a:r>
          </a:p>
          <a:p>
            <a:br>
              <a:rPr lang="en-US" sz="1400" dirty="0"/>
            </a:br>
            <a:r>
              <a:rPr lang="en-IN" sz="1400" b="1" dirty="0"/>
              <a:t>Key Highlights :-</a:t>
            </a:r>
            <a:endParaRPr lang="en-US" sz="1400" dirty="0"/>
          </a:p>
          <a:p>
            <a:r>
              <a:rPr lang="en-US" sz="1400" b="1" dirty="0"/>
              <a:t>Evening and morning are busiest for registered users </a:t>
            </a:r>
            <a:r>
              <a:rPr lang="en-IN" sz="1400" b="1" dirty="0"/>
              <a:t>  </a:t>
            </a:r>
            <a:br>
              <a:rPr lang="en-US" sz="1400" dirty="0"/>
            </a:br>
            <a:r>
              <a:rPr lang="en-US" sz="1400" dirty="0"/>
              <a:t>Registered rentals are highest during evening and morning, showing daily commute usage.</a:t>
            </a:r>
          </a:p>
          <a:p>
            <a:r>
              <a:rPr lang="en-US" sz="1400" b="1" dirty="0"/>
              <a:t>Casual users prefer afternoon</a:t>
            </a:r>
            <a:r>
              <a:rPr lang="en-IN" sz="1400" b="1" dirty="0"/>
              <a:t>:-</a:t>
            </a:r>
            <a:br>
              <a:rPr lang="en-US" sz="1400" dirty="0"/>
            </a:br>
            <a:r>
              <a:rPr lang="en-US" sz="1400" dirty="0"/>
              <a:t>Casual rentals peak in the afternoon, likely for leisure or short trips.</a:t>
            </a:r>
          </a:p>
          <a:p>
            <a:r>
              <a:rPr lang="en-US" sz="1400" b="1" dirty="0"/>
              <a:t>Night has the lowest demand </a:t>
            </a:r>
            <a:r>
              <a:rPr lang="en-IN" sz="1400" b="1" dirty="0"/>
              <a:t>:-</a:t>
            </a:r>
            <a:r>
              <a:rPr lang="en-US" sz="1400" dirty="0"/>
              <a:t>Both casual and registered usage drop sharply at night.</a:t>
            </a:r>
          </a:p>
          <a:p>
            <a:r>
              <a:rPr lang="en-US" sz="1400" b="1" dirty="0"/>
              <a:t>Different usage patterns by user type</a:t>
            </a:r>
            <a:r>
              <a:rPr lang="en-IN" sz="1400" b="1" dirty="0"/>
              <a:t>:-</a:t>
            </a:r>
            <a:endParaRPr lang="en-US" sz="1400" dirty="0"/>
          </a:p>
          <a:p>
            <a:r>
              <a:rPr lang="en-US" sz="1400" dirty="0"/>
              <a:t>Registered users use bikes for routine travel, while casual users use them for daytime activities.</a:t>
            </a:r>
          </a:p>
          <a:p>
            <a:br>
              <a:rPr lang="en-US" sz="1400" dirty="0"/>
            </a:br>
            <a:endParaRPr lang="en-IN" sz="1400" dirty="0"/>
          </a:p>
        </p:txBody>
      </p:sp>
    </p:spTree>
    <p:extLst>
      <p:ext uri="{BB962C8B-B14F-4D97-AF65-F5344CB8AC3E}">
        <p14:creationId xmlns:p14="http://schemas.microsoft.com/office/powerpoint/2010/main" val="32869191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D48467-87A6-F8FB-E0E9-95247F00318A}"/>
              </a:ext>
            </a:extLst>
          </p:cNvPr>
          <p:cNvSpPr>
            <a:spLocks noGrp="1"/>
          </p:cNvSpPr>
          <p:nvPr>
            <p:ph type="title"/>
          </p:nvPr>
        </p:nvSpPr>
        <p:spPr>
          <a:xfrm>
            <a:off x="2955730" y="326205"/>
            <a:ext cx="6280540" cy="531812"/>
          </a:xfrm>
        </p:spPr>
        <p:txBody>
          <a:bodyPr>
            <a:noAutofit/>
          </a:bodyPr>
          <a:lstStyle/>
          <a:p>
            <a:r>
              <a:rPr lang="en-US" sz="2400" b="1" dirty="0"/>
              <a:t>Total Users Breakdown: Registered vs Casual</a:t>
            </a:r>
            <a:endParaRPr lang="en-IN" sz="2400" b="1" dirty="0"/>
          </a:p>
        </p:txBody>
      </p:sp>
      <mc:AlternateContent xmlns:mc="http://schemas.openxmlformats.org/markup-compatibility/2006">
        <mc:Choice xmlns:cx2="http://schemas.microsoft.com/office/drawing/2015/10/21/chartex" Requires="cx2">
          <p:graphicFrame>
            <p:nvGraphicFramePr>
              <p:cNvPr id="5" name="Content Placeholder 4">
                <a:extLst>
                  <a:ext uri="{FF2B5EF4-FFF2-40B4-BE49-F238E27FC236}">
                    <a16:creationId xmlns:a16="http://schemas.microsoft.com/office/drawing/2014/main" id="{710B0388-95CA-13C5-6D6E-C2EC01BA8402}"/>
                  </a:ext>
                </a:extLst>
              </p:cNvPr>
              <p:cNvGraphicFramePr>
                <a:graphicFrameLocks noGrp="1"/>
              </p:cNvGraphicFramePr>
              <p:nvPr>
                <p:ph idx="1"/>
                <p:extLst>
                  <p:ext uri="{D42A27DB-BD31-4B8C-83A1-F6EECF244321}">
                    <p14:modId xmlns:p14="http://schemas.microsoft.com/office/powerpoint/2010/main" val="2208013371"/>
                  </p:ext>
                </p:extLst>
              </p:nvPr>
            </p:nvGraphicFramePr>
            <p:xfrm>
              <a:off x="5971083" y="974361"/>
              <a:ext cx="5811185" cy="5291527"/>
            </p:xfrm>
            <a:graphic>
              <a:graphicData uri="http://schemas.microsoft.com/office/drawing/2014/chartex">
                <cx:chart xmlns:cx="http://schemas.microsoft.com/office/drawing/2014/chartex" xmlns:r="http://schemas.openxmlformats.org/officeDocument/2006/relationships" r:id="rId2"/>
              </a:graphicData>
            </a:graphic>
          </p:graphicFrame>
        </mc:Choice>
        <mc:Fallback>
          <p:pic>
            <p:nvPicPr>
              <p:cNvPr id="5" name="Content Placeholder 4">
                <a:extLst>
                  <a:ext uri="{FF2B5EF4-FFF2-40B4-BE49-F238E27FC236}">
                    <a16:creationId xmlns:a16="http://schemas.microsoft.com/office/drawing/2014/main" id="{710B0388-95CA-13C5-6D6E-C2EC01BA8402}"/>
                  </a:ext>
                </a:extLst>
              </p:cNvPr>
              <p:cNvPicPr>
                <a:picLocks noGrp="1" noRot="1" noChangeAspect="1" noMove="1" noResize="1" noEditPoints="1" noAdjustHandles="1" noChangeArrowheads="1" noChangeShapeType="1"/>
              </p:cNvPicPr>
              <p:nvPr/>
            </p:nvPicPr>
            <p:blipFill>
              <a:blip r:embed="rId3"/>
              <a:stretch>
                <a:fillRect/>
              </a:stretch>
            </p:blipFill>
            <p:spPr>
              <a:xfrm>
                <a:off x="5971083" y="974361"/>
                <a:ext cx="5811185" cy="5291527"/>
              </a:xfrm>
              <a:prstGeom prst="rect">
                <a:avLst/>
              </a:prstGeom>
            </p:spPr>
          </p:pic>
        </mc:Fallback>
      </mc:AlternateContent>
      <p:sp>
        <p:nvSpPr>
          <p:cNvPr id="4" name="Text Placeholder 3">
            <a:extLst>
              <a:ext uri="{FF2B5EF4-FFF2-40B4-BE49-F238E27FC236}">
                <a16:creationId xmlns:a16="http://schemas.microsoft.com/office/drawing/2014/main" id="{2F17BC48-08E2-6653-9199-0AEC1162D449}"/>
              </a:ext>
            </a:extLst>
          </p:cNvPr>
          <p:cNvSpPr>
            <a:spLocks noGrp="1"/>
          </p:cNvSpPr>
          <p:nvPr>
            <p:ph type="body" sz="half" idx="2"/>
          </p:nvPr>
        </p:nvSpPr>
        <p:spPr>
          <a:xfrm>
            <a:off x="409732" y="1304144"/>
            <a:ext cx="5561352" cy="4961745"/>
          </a:xfrm>
        </p:spPr>
        <p:txBody>
          <a:bodyPr>
            <a:normAutofit fontScale="92500"/>
          </a:bodyPr>
          <a:lstStyle/>
          <a:p>
            <a:r>
              <a:rPr lang="en-US" dirty="0"/>
              <a:t>This chart shows the total number of bike users. Most users are registered users, while casual users make up a very small part of total usage.</a:t>
            </a:r>
          </a:p>
          <a:p>
            <a:br>
              <a:rPr lang="en-US" dirty="0"/>
            </a:br>
            <a:r>
              <a:rPr lang="en-IN" b="1" dirty="0"/>
              <a:t>Key Highlights :-</a:t>
            </a:r>
            <a:endParaRPr lang="en-US" dirty="0"/>
          </a:p>
          <a:p>
            <a:r>
              <a:rPr lang="en-US" b="1" dirty="0"/>
              <a:t>Registered users are the majority :-</a:t>
            </a:r>
            <a:br>
              <a:rPr lang="en-US" dirty="0"/>
            </a:br>
            <a:r>
              <a:rPr lang="en-US" dirty="0"/>
              <a:t>Out of 58,304 total users, 53,383 are registered, showing strong regular usage.</a:t>
            </a:r>
          </a:p>
          <a:p>
            <a:r>
              <a:rPr lang="en-US" b="1" dirty="0"/>
              <a:t>Casual users are very few :-</a:t>
            </a:r>
            <a:br>
              <a:rPr lang="en-US" dirty="0"/>
            </a:br>
            <a:r>
              <a:rPr lang="en-US" dirty="0"/>
              <a:t>Casual users contribute only a small portion of total rentals.</a:t>
            </a:r>
          </a:p>
          <a:p>
            <a:r>
              <a:rPr lang="en-US" b="1" dirty="0"/>
              <a:t>Business depends on registered users :-</a:t>
            </a:r>
            <a:br>
              <a:rPr lang="en-US" dirty="0"/>
            </a:br>
            <a:r>
              <a:rPr lang="en-US" dirty="0"/>
              <a:t>Most bike usage comes from repeat and loyal users.</a:t>
            </a:r>
          </a:p>
          <a:p>
            <a:r>
              <a:rPr lang="en-US" b="1" dirty="0"/>
              <a:t>Opportunity to grow casual users ;-</a:t>
            </a:r>
            <a:br>
              <a:rPr lang="en-US" dirty="0"/>
            </a:br>
            <a:r>
              <a:rPr lang="en-US" dirty="0"/>
              <a:t>Casual users can be increased through offers, promotions, or tourist plans.</a:t>
            </a:r>
          </a:p>
          <a:p>
            <a:endParaRPr lang="en-IN" dirty="0"/>
          </a:p>
        </p:txBody>
      </p:sp>
    </p:spTree>
    <p:extLst>
      <p:ext uri="{BB962C8B-B14F-4D97-AF65-F5344CB8AC3E}">
        <p14:creationId xmlns:p14="http://schemas.microsoft.com/office/powerpoint/2010/main" val="16700631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EF36F-40CB-DD9C-9C77-7518631F95B7}"/>
              </a:ext>
            </a:extLst>
          </p:cNvPr>
          <p:cNvSpPr>
            <a:spLocks noGrp="1"/>
          </p:cNvSpPr>
          <p:nvPr>
            <p:ph type="title"/>
          </p:nvPr>
        </p:nvSpPr>
        <p:spPr>
          <a:xfrm>
            <a:off x="3125131" y="229243"/>
            <a:ext cx="7405854" cy="549441"/>
          </a:xfrm>
        </p:spPr>
        <p:txBody>
          <a:bodyPr>
            <a:normAutofit fontScale="90000"/>
          </a:bodyPr>
          <a:lstStyle/>
          <a:p>
            <a:r>
              <a:rPr lang="en-US" sz="2400" b="1" dirty="0"/>
              <a:t>Hourly Bike Rental Pattern by Day of Week</a:t>
            </a:r>
            <a:endParaRPr lang="en-IN" sz="2400" b="1" dirty="0"/>
          </a:p>
        </p:txBody>
      </p:sp>
      <p:pic>
        <p:nvPicPr>
          <p:cNvPr id="9" name="Content Placeholder 8" descr="A screenshot of a computer">
            <a:extLst>
              <a:ext uri="{FF2B5EF4-FFF2-40B4-BE49-F238E27FC236}">
                <a16:creationId xmlns:a16="http://schemas.microsoft.com/office/drawing/2014/main" id="{2EC517E3-B53C-9B06-2EC2-80C6BE41D8E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573005" y="882314"/>
            <a:ext cx="6137732" cy="5471722"/>
          </a:xfrm>
        </p:spPr>
      </p:pic>
      <p:sp>
        <p:nvSpPr>
          <p:cNvPr id="4" name="Text Placeholder 3">
            <a:extLst>
              <a:ext uri="{FF2B5EF4-FFF2-40B4-BE49-F238E27FC236}">
                <a16:creationId xmlns:a16="http://schemas.microsoft.com/office/drawing/2014/main" id="{0E989390-F8F7-B93D-792D-57C535D7D834}"/>
              </a:ext>
            </a:extLst>
          </p:cNvPr>
          <p:cNvSpPr>
            <a:spLocks noGrp="1"/>
          </p:cNvSpPr>
          <p:nvPr>
            <p:ph type="body" sz="half" idx="2"/>
          </p:nvPr>
        </p:nvSpPr>
        <p:spPr>
          <a:xfrm>
            <a:off x="481263" y="882314"/>
            <a:ext cx="4732421" cy="5694948"/>
          </a:xfrm>
        </p:spPr>
        <p:txBody>
          <a:bodyPr>
            <a:normAutofit fontScale="92500" lnSpcReduction="10000"/>
          </a:bodyPr>
          <a:lstStyle/>
          <a:p>
            <a:r>
              <a:rPr lang="en-US" dirty="0"/>
              <a:t>This heatmap shows bike rentals by hour and day of the week. Usage is very low late at night and early morning, rises sharply during office commute hours, and stays higher on weekdays, especially Monday to Friday.</a:t>
            </a:r>
          </a:p>
          <a:p>
            <a:br>
              <a:rPr lang="en-US" dirty="0"/>
            </a:br>
            <a:r>
              <a:rPr lang="en-IN" b="1" dirty="0"/>
              <a:t>Key Highlights :-</a:t>
            </a:r>
            <a:endParaRPr lang="en-US" dirty="0"/>
          </a:p>
          <a:p>
            <a:r>
              <a:rPr lang="en-US" b="1" dirty="0"/>
              <a:t>Morning and evening are the busiest times :-</a:t>
            </a:r>
            <a:br>
              <a:rPr lang="en-US" dirty="0"/>
            </a:br>
            <a:r>
              <a:rPr lang="en-US" dirty="0"/>
              <a:t>Highest rentals are seen around 8–9 AM and 5–6 PM, mainly on weekdays.</a:t>
            </a:r>
          </a:p>
          <a:p>
            <a:r>
              <a:rPr lang="en-US" b="1" dirty="0"/>
              <a:t>Weekdays have more usage than weekends :-</a:t>
            </a:r>
            <a:br>
              <a:rPr lang="en-US" dirty="0"/>
            </a:br>
            <a:r>
              <a:rPr lang="en-US" dirty="0"/>
              <a:t>Monday to Friday show much higher demand compared to Saturday and Sunday.</a:t>
            </a:r>
          </a:p>
          <a:p>
            <a:r>
              <a:rPr lang="en-US" b="1" dirty="0"/>
              <a:t>Late night and early morning are very quiet :-</a:t>
            </a:r>
            <a:br>
              <a:rPr lang="en-US" dirty="0"/>
            </a:br>
            <a:r>
              <a:rPr lang="en-US" dirty="0"/>
              <a:t>From 12 AM to 5 AM, bike usage is very low across all days.</a:t>
            </a:r>
          </a:p>
          <a:p>
            <a:r>
              <a:rPr lang="en-US" b="1" dirty="0"/>
              <a:t>Friday shows strong evening demand :-</a:t>
            </a:r>
            <a:br>
              <a:rPr lang="en-US" dirty="0"/>
            </a:br>
            <a:r>
              <a:rPr lang="en-US" dirty="0"/>
              <a:t>Friday evening has one of the highest rental counts, indicating end-of-week travel.</a:t>
            </a:r>
          </a:p>
          <a:p>
            <a:endParaRPr lang="en-IN" dirty="0"/>
          </a:p>
        </p:txBody>
      </p:sp>
    </p:spTree>
    <p:extLst>
      <p:ext uri="{BB962C8B-B14F-4D97-AF65-F5344CB8AC3E}">
        <p14:creationId xmlns:p14="http://schemas.microsoft.com/office/powerpoint/2010/main" val="26921337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492A2-282B-6446-9158-0A17B1736D29}"/>
              </a:ext>
            </a:extLst>
          </p:cNvPr>
          <p:cNvSpPr>
            <a:spLocks noGrp="1"/>
          </p:cNvSpPr>
          <p:nvPr>
            <p:ph type="title"/>
          </p:nvPr>
        </p:nvSpPr>
        <p:spPr>
          <a:xfrm>
            <a:off x="4409937" y="257891"/>
            <a:ext cx="3932237" cy="349770"/>
          </a:xfrm>
        </p:spPr>
        <p:txBody>
          <a:bodyPr>
            <a:normAutofit fontScale="90000"/>
          </a:bodyPr>
          <a:lstStyle/>
          <a:p>
            <a:r>
              <a:rPr lang="en-IN" dirty="0">
                <a:latin typeface="+mn-lt"/>
              </a:rPr>
              <a:t>Challenges</a:t>
            </a:r>
          </a:p>
        </p:txBody>
      </p:sp>
      <p:sp>
        <p:nvSpPr>
          <p:cNvPr id="7" name="Rectangle 1">
            <a:extLst>
              <a:ext uri="{FF2B5EF4-FFF2-40B4-BE49-F238E27FC236}">
                <a16:creationId xmlns:a16="http://schemas.microsoft.com/office/drawing/2014/main" id="{DF4771B4-8B9C-13FD-8A41-A5BCAFED4ED8}"/>
              </a:ext>
            </a:extLst>
          </p:cNvPr>
          <p:cNvSpPr>
            <a:spLocks noGrp="1" noChangeArrowheads="1"/>
          </p:cNvSpPr>
          <p:nvPr>
            <p:ph type="body" sz="half" idx="2"/>
          </p:nvPr>
        </p:nvSpPr>
        <p:spPr bwMode="auto">
          <a:xfrm>
            <a:off x="1588957" y="607662"/>
            <a:ext cx="9293903" cy="59924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500" b="1" i="0" u="none" strike="noStrike" cap="none" normalizeH="0" baseline="0" dirty="0">
                <a:ln>
                  <a:noFill/>
                </a:ln>
                <a:solidFill>
                  <a:schemeClr val="tx1"/>
                </a:solidFill>
                <a:effectLst/>
                <a:latin typeface="Aptos Narrow" panose="020B0004020202020204" pitchFamily="34" charset="0"/>
              </a:rPr>
              <a:t> Handling raw and unclean data, including missing values, duplicates, and incorrect data types.</a:t>
            </a: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sz="1500" b="1" i="0" u="none" strike="noStrike" cap="none" normalizeH="0" baseline="0" dirty="0">
              <a:ln>
                <a:noFill/>
              </a:ln>
              <a:solidFill>
                <a:schemeClr val="tx1"/>
              </a:solidFill>
              <a:effectLst/>
              <a:latin typeface="Aptos Narrow" panose="020B00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500" b="1" i="0" u="none" strike="noStrike" cap="none" normalizeH="0" baseline="0" dirty="0">
                <a:ln>
                  <a:noFill/>
                </a:ln>
                <a:solidFill>
                  <a:schemeClr val="tx1"/>
                </a:solidFill>
                <a:effectLst/>
                <a:latin typeface="Aptos Narrow" panose="020B0004020202020204" pitchFamily="34" charset="0"/>
              </a:rPr>
              <a:t>Merging multiple datasets without losing records or creating inconsistencies.</a:t>
            </a: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sz="1500" b="1" i="0" u="none" strike="noStrike" cap="none" normalizeH="0" baseline="0" dirty="0">
              <a:ln>
                <a:noFill/>
              </a:ln>
              <a:solidFill>
                <a:schemeClr val="tx1"/>
              </a:solidFill>
              <a:effectLst/>
              <a:latin typeface="Aptos Narrow" panose="020B00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500" b="1" i="0" u="none" strike="noStrike" cap="none" normalizeH="0" baseline="0" dirty="0">
                <a:ln>
                  <a:noFill/>
                </a:ln>
                <a:solidFill>
                  <a:schemeClr val="tx1"/>
                </a:solidFill>
                <a:effectLst/>
                <a:latin typeface="Aptos Narrow" panose="020B0004020202020204" pitchFamily="34" charset="0"/>
              </a:rPr>
              <a:t> Managing date and time data correctly, especially hourly data (0–23) across multiple days.</a:t>
            </a: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sz="1500" b="1" i="0" u="none" strike="noStrike" cap="none" normalizeH="0" baseline="0" dirty="0">
              <a:ln>
                <a:noFill/>
              </a:ln>
              <a:solidFill>
                <a:schemeClr val="tx1"/>
              </a:solidFill>
              <a:effectLst/>
              <a:latin typeface="Aptos Narrow" panose="020B00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500" b="1" i="0" u="none" strike="noStrike" cap="none" normalizeH="0" baseline="0" dirty="0">
                <a:ln>
                  <a:noFill/>
                </a:ln>
                <a:solidFill>
                  <a:schemeClr val="tx1"/>
                </a:solidFill>
                <a:effectLst/>
                <a:latin typeface="Aptos Narrow" panose="020B0004020202020204" pitchFamily="34" charset="0"/>
              </a:rPr>
              <a:t>Creating derived columns (time periods, weather categories, temperature bands) accurately.</a:t>
            </a: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sz="1500" b="1" i="0" u="none" strike="noStrike" cap="none" normalizeH="0" baseline="0" dirty="0">
              <a:ln>
                <a:noFill/>
              </a:ln>
              <a:solidFill>
                <a:schemeClr val="tx1"/>
              </a:solidFill>
              <a:effectLst/>
              <a:latin typeface="Aptos Narrow" panose="020B0004020202020204" pitchFamily="34" charset="0"/>
            </a:endParaRPr>
          </a:p>
          <a:p>
            <a:pPr lvl="0" eaLnBrk="0" fontAlgn="base" hangingPunct="0">
              <a:lnSpc>
                <a:spcPct val="100000"/>
              </a:lnSpc>
              <a:spcBef>
                <a:spcPct val="0"/>
              </a:spcBef>
              <a:spcAft>
                <a:spcPct val="0"/>
              </a:spcAft>
              <a:buFontTx/>
              <a:buChar char="•"/>
            </a:pPr>
            <a:r>
              <a:rPr lang="en-US" sz="1500" b="1" dirty="0">
                <a:latin typeface="Aptos Narrow" panose="020B0004020202020204" pitchFamily="34" charset="0"/>
              </a:rPr>
              <a:t>Accurately calculating rolling 24-hour mean and standard deviation while correctly identifying true anomalies without misclassifying normal demand fluctuations.</a:t>
            </a:r>
            <a:r>
              <a:rPr kumimoji="0" lang="en-US" altLang="en-US" sz="1500" b="1" i="0" u="none" strike="noStrike" cap="none" normalizeH="0" baseline="0" dirty="0">
                <a:ln>
                  <a:noFill/>
                </a:ln>
                <a:solidFill>
                  <a:schemeClr val="tx1"/>
                </a:solidFill>
                <a:effectLst/>
                <a:latin typeface="Aptos Narrow" panose="020B0004020202020204" pitchFamily="34" charset="0"/>
              </a:rPr>
              <a:t>.</a:t>
            </a: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sz="1500" b="1" i="0" u="none" strike="noStrike" cap="none" normalizeH="0" baseline="0" dirty="0">
              <a:ln>
                <a:noFill/>
              </a:ln>
              <a:solidFill>
                <a:schemeClr val="tx1"/>
              </a:solidFill>
              <a:effectLst/>
              <a:latin typeface="Aptos Narrow" panose="020B00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500" b="1" i="0" u="none" strike="noStrike" cap="none" normalizeH="0" baseline="0" dirty="0">
                <a:ln>
                  <a:noFill/>
                </a:ln>
                <a:solidFill>
                  <a:schemeClr val="tx1"/>
                </a:solidFill>
                <a:effectLst/>
                <a:latin typeface="Aptos Narrow" panose="020B0004020202020204" pitchFamily="34" charset="0"/>
              </a:rPr>
              <a:t>Selecting the right visualization to clearly represent hourly and daily demand patterns.</a:t>
            </a: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sz="1500" b="1" i="0" u="none" strike="noStrike" cap="none" normalizeH="0" baseline="0" dirty="0">
              <a:ln>
                <a:noFill/>
              </a:ln>
              <a:solidFill>
                <a:schemeClr val="tx1"/>
              </a:solidFill>
              <a:effectLst/>
              <a:latin typeface="Aptos Narrow" panose="020B0004020202020204" pitchFamily="34" charset="0"/>
            </a:endParaRPr>
          </a:p>
          <a:p>
            <a:pPr lvl="0" eaLnBrk="0" fontAlgn="base" hangingPunct="0">
              <a:lnSpc>
                <a:spcPct val="100000"/>
              </a:lnSpc>
              <a:spcBef>
                <a:spcPct val="0"/>
              </a:spcBef>
              <a:spcAft>
                <a:spcPct val="0"/>
              </a:spcAft>
              <a:buFontTx/>
              <a:buChar char="•"/>
            </a:pPr>
            <a:r>
              <a:rPr lang="en-US" sz="1500" b="1" dirty="0">
                <a:latin typeface="Aptos Narrow" panose="020B0004020202020204" pitchFamily="34" charset="0"/>
              </a:rPr>
              <a:t>Ensuring pivot tables and calculated fields generate accurate summaries while remaining dynamic and updating correctly with filters and slicers.</a:t>
            </a:r>
            <a:endParaRPr kumimoji="0" lang="en-US" altLang="en-US" sz="1500" b="1" i="0" u="none" strike="noStrike" cap="none" normalizeH="0" baseline="0" dirty="0">
              <a:ln>
                <a:noFill/>
              </a:ln>
              <a:solidFill>
                <a:schemeClr val="tx1"/>
              </a:solidFill>
              <a:effectLst/>
              <a:latin typeface="Aptos Narrow" panose="020B00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sz="1500" b="1" i="0" u="none" strike="noStrike" cap="none" normalizeH="0" baseline="0" dirty="0">
              <a:ln>
                <a:noFill/>
              </a:ln>
              <a:solidFill>
                <a:schemeClr val="tx1"/>
              </a:solidFill>
              <a:effectLst/>
              <a:latin typeface="Aptos Narrow" panose="020B00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500" b="1" i="0" u="none" strike="noStrike" cap="none" normalizeH="0" baseline="0" dirty="0">
                <a:ln>
                  <a:noFill/>
                </a:ln>
                <a:solidFill>
                  <a:schemeClr val="tx1"/>
                </a:solidFill>
                <a:effectLst/>
                <a:latin typeface="Aptos Narrow" panose="020B0004020202020204" pitchFamily="34" charset="0"/>
              </a:rPr>
              <a:t>Choosing appropriate measures and dimensions while building pivot-based analysis.</a:t>
            </a: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sz="1500" b="1" i="0" u="none" strike="noStrike" cap="none" normalizeH="0" baseline="0" dirty="0">
              <a:ln>
                <a:noFill/>
              </a:ln>
              <a:solidFill>
                <a:schemeClr val="tx1"/>
              </a:solidFill>
              <a:effectLst/>
              <a:latin typeface="Aptos Narrow" panose="020B00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500" b="1" i="0" u="none" strike="noStrike" cap="none" normalizeH="0" baseline="0" dirty="0">
                <a:ln>
                  <a:noFill/>
                </a:ln>
                <a:solidFill>
                  <a:schemeClr val="tx1"/>
                </a:solidFill>
                <a:effectLst/>
                <a:latin typeface="Aptos Narrow" panose="020B0004020202020204" pitchFamily="34" charset="0"/>
              </a:rPr>
              <a:t>Creating an interactive dashboard that balances clarity, insights, and performance.</a:t>
            </a:r>
          </a:p>
          <a:p>
            <a:pPr marL="0" marR="0" lvl="0" indent="0" defTabSz="914400" rtl="0" eaLnBrk="0" fontAlgn="base" latinLnBrk="0" hangingPunct="0">
              <a:lnSpc>
                <a:spcPct val="100000"/>
              </a:lnSpc>
              <a:spcBef>
                <a:spcPct val="0"/>
              </a:spcBef>
              <a:spcAft>
                <a:spcPct val="0"/>
              </a:spcAft>
              <a:buClrTx/>
              <a:buSzTx/>
              <a:tabLst/>
            </a:pPr>
            <a:endParaRPr kumimoji="0" lang="en-US" altLang="en-US" sz="1500" b="1" i="0" u="none" strike="noStrike" cap="none" normalizeH="0" baseline="0" dirty="0">
              <a:ln>
                <a:noFill/>
              </a:ln>
              <a:solidFill>
                <a:schemeClr val="tx1"/>
              </a:solidFill>
              <a:effectLst/>
              <a:latin typeface="Aptos Narrow" panose="020B00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500" b="1" i="0" u="none" strike="noStrike" cap="none" normalizeH="0" baseline="0" dirty="0">
                <a:ln>
                  <a:noFill/>
                </a:ln>
                <a:solidFill>
                  <a:schemeClr val="tx1"/>
                </a:solidFill>
                <a:effectLst/>
                <a:latin typeface="Aptos Narrow" panose="020B0004020202020204" pitchFamily="34" charset="0"/>
              </a:rPr>
              <a:t>Aligning multiple charts in a dashboard to tell a consistent analytical story.</a:t>
            </a: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sz="1500" b="1" i="0" u="none" strike="noStrike" cap="none" normalizeH="0" baseline="0" dirty="0">
              <a:ln>
                <a:noFill/>
              </a:ln>
              <a:solidFill>
                <a:schemeClr val="tx1"/>
              </a:solidFill>
              <a:effectLst/>
              <a:latin typeface="Aptos Narrow" panose="020B00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500" b="1" i="0" u="none" strike="noStrike" cap="none" normalizeH="0" baseline="0" dirty="0">
                <a:ln>
                  <a:noFill/>
                </a:ln>
                <a:solidFill>
                  <a:schemeClr val="tx1"/>
                </a:solidFill>
                <a:effectLst/>
                <a:latin typeface="Aptos Narrow" panose="020B0004020202020204" pitchFamily="34" charset="0"/>
              </a:rPr>
              <a:t>Maintaining data consistency while applying filters, slicers, and transformations.</a:t>
            </a:r>
          </a:p>
          <a:p>
            <a:pPr marL="0" marR="0" lvl="0" indent="0" defTabSz="914400" rtl="0" eaLnBrk="0" fontAlgn="base" latinLnBrk="0" hangingPunct="0">
              <a:lnSpc>
                <a:spcPct val="100000"/>
              </a:lnSpc>
              <a:spcBef>
                <a:spcPct val="0"/>
              </a:spcBef>
              <a:spcAft>
                <a:spcPct val="0"/>
              </a:spcAft>
              <a:buClrTx/>
              <a:buSzTx/>
              <a:tabLst/>
            </a:pPr>
            <a:endParaRPr kumimoji="0" lang="en-US" altLang="en-US" sz="1500" b="1" i="0" u="none" strike="noStrike" cap="none" normalizeH="0" baseline="0" dirty="0">
              <a:ln>
                <a:noFill/>
              </a:ln>
              <a:solidFill>
                <a:schemeClr val="tx1"/>
              </a:solidFill>
              <a:effectLst/>
              <a:latin typeface="Aptos Narrow" panose="020B00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500" b="1" i="0" u="none" strike="noStrike" cap="none" normalizeH="0" baseline="0" dirty="0">
                <a:ln>
                  <a:noFill/>
                </a:ln>
                <a:solidFill>
                  <a:schemeClr val="tx1"/>
                </a:solidFill>
                <a:effectLst/>
                <a:latin typeface="Aptos Narrow" panose="020B0004020202020204" pitchFamily="34" charset="0"/>
              </a:rPr>
              <a:t>Presenting insights in a simple and understandable way for non-technical stakeholders.</a:t>
            </a:r>
          </a:p>
        </p:txBody>
      </p:sp>
    </p:spTree>
    <p:extLst>
      <p:ext uri="{BB962C8B-B14F-4D97-AF65-F5344CB8AC3E}">
        <p14:creationId xmlns:p14="http://schemas.microsoft.com/office/powerpoint/2010/main" val="6037752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05F73DE-307B-3A98-52CA-8E28BB015F39}"/>
              </a:ext>
            </a:extLst>
          </p:cNvPr>
          <p:cNvSpPr>
            <a:spLocks noGrp="1"/>
          </p:cNvSpPr>
          <p:nvPr>
            <p:ph type="body" sz="half" idx="2"/>
          </p:nvPr>
        </p:nvSpPr>
        <p:spPr>
          <a:xfrm>
            <a:off x="839788" y="1409075"/>
            <a:ext cx="9248592" cy="4459913"/>
          </a:xfrm>
        </p:spPr>
        <p:txBody>
          <a:bodyPr/>
          <a:lstStyle/>
          <a:p>
            <a:endParaRPr lang="en-US" dirty="0"/>
          </a:p>
          <a:p>
            <a:endParaRPr lang="en-IN" dirty="0"/>
          </a:p>
          <a:p>
            <a:pPr algn="ctr"/>
            <a:r>
              <a:rPr lang="en-IN" sz="4800" b="1" dirty="0"/>
              <a:t>   THANK  YOU</a:t>
            </a:r>
          </a:p>
        </p:txBody>
      </p:sp>
    </p:spTree>
    <p:extLst>
      <p:ext uri="{BB962C8B-B14F-4D97-AF65-F5344CB8AC3E}">
        <p14:creationId xmlns:p14="http://schemas.microsoft.com/office/powerpoint/2010/main" val="82727154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
  <TotalTime>241</TotalTime>
  <Words>1664</Words>
  <Application>Microsoft Office PowerPoint</Application>
  <PresentationFormat>Widescreen</PresentationFormat>
  <Paragraphs>143</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Aptos Narrow</vt:lpstr>
      <vt:lpstr>Arial</vt:lpstr>
      <vt:lpstr>Bookman Old Style</vt:lpstr>
      <vt:lpstr>Rockwell</vt:lpstr>
      <vt:lpstr>Damask</vt:lpstr>
      <vt:lpstr>PowerPoint Presentation</vt:lpstr>
      <vt:lpstr>Objectives</vt:lpstr>
      <vt:lpstr>Weekday vs Weekend Bike Rental Usage</vt:lpstr>
      <vt:lpstr>Hour-wise Bike Rental Trends</vt:lpstr>
      <vt:lpstr>Impact of Weather on Bike Rental Usage</vt:lpstr>
      <vt:lpstr>Month-wise Bike Rental Distribution</vt:lpstr>
      <vt:lpstr>Average Bike Rentals by Weather Condition</vt:lpstr>
      <vt:lpstr>Weekday-wise Bike Rental Usage</vt:lpstr>
      <vt:lpstr>Bike Rentals by Temperature Category</vt:lpstr>
      <vt:lpstr>Bike Rentals by Time Period</vt:lpstr>
      <vt:lpstr>Total Users Breakdown: Registered vs Casual</vt:lpstr>
      <vt:lpstr>Hourly Bike Rental Pattern by Day of Week</vt:lpstr>
      <vt:lpstr>Challenges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mohit chauhan</dc:creator>
  <cp:lastModifiedBy>mohit chauhan</cp:lastModifiedBy>
  <cp:revision>23</cp:revision>
  <dcterms:created xsi:type="dcterms:W3CDTF">2026-01-15T15:16:03Z</dcterms:created>
  <dcterms:modified xsi:type="dcterms:W3CDTF">2026-01-19T07:24:33Z</dcterms:modified>
</cp:coreProperties>
</file>